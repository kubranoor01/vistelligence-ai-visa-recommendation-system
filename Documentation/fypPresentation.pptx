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embeddedFontLst>
    <p:embeddedFont>
      <p:font typeface="Raleway"/>
      <p:regular r:id="rId30"/>
      <p:bold r:id="rId31"/>
      <p:italic r:id="rId32"/>
      <p:boldItalic r:id="rId33"/>
    </p:embeddedFont>
    <p:embeddedFont>
      <p:font typeface="Lato"/>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aleway-bold.fntdata"/><Relationship Id="rId30" Type="http://schemas.openxmlformats.org/officeDocument/2006/relationships/font" Target="fonts/Raleway-regular.fntdata"/><Relationship Id="rId11" Type="http://schemas.openxmlformats.org/officeDocument/2006/relationships/slide" Target="slides/slide6.xml"/><Relationship Id="rId33" Type="http://schemas.openxmlformats.org/officeDocument/2006/relationships/font" Target="fonts/Raleway-boldItalic.fntdata"/><Relationship Id="rId10" Type="http://schemas.openxmlformats.org/officeDocument/2006/relationships/slide" Target="slides/slide5.xml"/><Relationship Id="rId32" Type="http://schemas.openxmlformats.org/officeDocument/2006/relationships/font" Target="fonts/Raleway-italic.fntdata"/><Relationship Id="rId13" Type="http://schemas.openxmlformats.org/officeDocument/2006/relationships/slide" Target="slides/slide8.xml"/><Relationship Id="rId35" Type="http://schemas.openxmlformats.org/officeDocument/2006/relationships/font" Target="fonts/Lato-bold.fntdata"/><Relationship Id="rId12" Type="http://schemas.openxmlformats.org/officeDocument/2006/relationships/slide" Target="slides/slide7.xml"/><Relationship Id="rId34" Type="http://schemas.openxmlformats.org/officeDocument/2006/relationships/font" Target="fonts/Lato-regular.fntdata"/><Relationship Id="rId15" Type="http://schemas.openxmlformats.org/officeDocument/2006/relationships/slide" Target="slides/slide10.xml"/><Relationship Id="rId37" Type="http://schemas.openxmlformats.org/officeDocument/2006/relationships/font" Target="fonts/Lato-boldItalic.fntdata"/><Relationship Id="rId14" Type="http://schemas.openxmlformats.org/officeDocument/2006/relationships/slide" Target="slides/slide9.xml"/><Relationship Id="rId36" Type="http://schemas.openxmlformats.org/officeDocument/2006/relationships/font" Target="fonts/Lato-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2b7639be8e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2b7639be8e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2b7639be8e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2b7639be8e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2b7639be8e_0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2b7639be8e_0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2b7639be8e_1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2b7639be8e_1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2b7639be8e_0_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2b7639be8e_0_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2b7639be8e_0_4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2b7639be8e_0_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2b7639be8e_0_4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2b7639be8e_0_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2b7639be8e_0_4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2b7639be8e_0_4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2b7639be8e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2b7639be8e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2b7639be8e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2b7639be8e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2b7639be8e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2b7639be8e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2b7639be8e_1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2b7639be8e_1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2b7639be8e_1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2b7639be8e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2b7639be8e_1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2b7639be8e_1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2b7639be8e_1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2b7639be8e_1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2b7639be8e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2b7639be8e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2b7639be8e_1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2b7639be8e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2b7639be8e_1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2b7639be8e_1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2b7639be8e_1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2b7639be8e_1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2b7639be8e_0_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2b7639be8e_0_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2b7639be8e_0_4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2b7639be8e_0_4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2b7639be8e_0_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2b7639be8e_0_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2b7639be8e_0_5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2b7639be8e_0_5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apply.commonapp.org/" TargetMode="External"/><Relationship Id="rId4" Type="http://schemas.openxmlformats.org/officeDocument/2006/relationships/hyperlink" Target="https://visabot.eu/" TargetMode="External"/><Relationship Id="rId5" Type="http://schemas.openxmlformats.org/officeDocument/2006/relationships/hyperlink" Target="https://www.visahq.pk/en/"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apply.commonapp.org" TargetMode="External"/><Relationship Id="rId4" Type="http://schemas.openxmlformats.org/officeDocument/2006/relationships/hyperlink" Target="https://visabot.eu" TargetMode="External"/><Relationship Id="rId5" Type="http://schemas.openxmlformats.org/officeDocument/2006/relationships/hyperlink" Target="https://www.visahq.pk/en/"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vistelligence.netlify.app/"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2532525" y="1043575"/>
            <a:ext cx="37560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Vistelligence</a:t>
            </a:r>
            <a:endParaRPr/>
          </a:p>
        </p:txBody>
      </p:sp>
      <p:sp>
        <p:nvSpPr>
          <p:cNvPr id="87" name="Google Shape;87;p13"/>
          <p:cNvSpPr txBox="1"/>
          <p:nvPr>
            <p:ph idx="1" type="subTitle"/>
          </p:nvPr>
        </p:nvSpPr>
        <p:spPr>
          <a:xfrm>
            <a:off x="3499125" y="2708275"/>
            <a:ext cx="1822800" cy="103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      </a:t>
            </a:r>
            <a:r>
              <a:rPr b="1" lang="en-GB"/>
              <a:t>Advisor</a:t>
            </a:r>
            <a:endParaRPr b="1"/>
          </a:p>
          <a:p>
            <a:pPr indent="0" lvl="0" marL="0" rtl="0" algn="l">
              <a:spcBef>
                <a:spcPts val="0"/>
              </a:spcBef>
              <a:spcAft>
                <a:spcPts val="0"/>
              </a:spcAft>
              <a:buNone/>
            </a:pPr>
            <a:r>
              <a:rPr b="1" lang="en-GB"/>
              <a:t>    </a:t>
            </a:r>
            <a:endParaRPr b="1"/>
          </a:p>
          <a:p>
            <a:pPr indent="0" lvl="0" marL="0" rtl="0" algn="l">
              <a:spcBef>
                <a:spcPts val="0"/>
              </a:spcBef>
              <a:spcAft>
                <a:spcPts val="0"/>
              </a:spcAft>
              <a:buNone/>
            </a:pPr>
            <a:r>
              <a:rPr b="1" lang="en-GB"/>
              <a:t>Ms Hira Asim</a:t>
            </a:r>
            <a:endParaRPr b="1"/>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Group </a:t>
            </a:r>
            <a:r>
              <a:rPr lang="en-GB"/>
              <a:t>Members</a:t>
            </a:r>
            <a:endParaRPr/>
          </a:p>
        </p:txBody>
      </p:sp>
      <p:sp>
        <p:nvSpPr>
          <p:cNvPr id="93" name="Google Shape;93;p14"/>
          <p:cNvSpPr txBox="1"/>
          <p:nvPr>
            <p:ph idx="1" type="body"/>
          </p:nvPr>
        </p:nvSpPr>
        <p:spPr>
          <a:xfrm>
            <a:off x="2827075" y="2089575"/>
            <a:ext cx="4796400" cy="2241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b="1" sz="1400">
              <a:solidFill>
                <a:srgbClr val="000000"/>
              </a:solidFill>
            </a:endParaRPr>
          </a:p>
          <a:p>
            <a:pPr indent="0" lvl="0" marL="0" rtl="0" algn="l">
              <a:spcBef>
                <a:spcPts val="1200"/>
              </a:spcBef>
              <a:spcAft>
                <a:spcPts val="0"/>
              </a:spcAft>
              <a:buNone/>
            </a:pPr>
            <a:r>
              <a:rPr b="1" lang="en-GB" sz="1400">
                <a:solidFill>
                  <a:srgbClr val="000000"/>
                </a:solidFill>
              </a:rPr>
              <a:t>Mh Sherharyar        L1F21BSSE0025</a:t>
            </a:r>
            <a:endParaRPr b="1" sz="1400">
              <a:solidFill>
                <a:srgbClr val="000000"/>
              </a:solidFill>
            </a:endParaRPr>
          </a:p>
          <a:p>
            <a:pPr indent="0" lvl="0" marL="0" rtl="0" algn="l">
              <a:spcBef>
                <a:spcPts val="1200"/>
              </a:spcBef>
              <a:spcAft>
                <a:spcPts val="0"/>
              </a:spcAft>
              <a:buNone/>
            </a:pPr>
            <a:r>
              <a:rPr b="1" lang="en-GB" sz="1400">
                <a:solidFill>
                  <a:srgbClr val="000000"/>
                </a:solidFill>
              </a:rPr>
              <a:t>Hina Ijaz                   L1F21BSSE0037</a:t>
            </a:r>
            <a:endParaRPr b="1" sz="1400">
              <a:solidFill>
                <a:srgbClr val="000000"/>
              </a:solidFill>
            </a:endParaRPr>
          </a:p>
          <a:p>
            <a:pPr indent="0" lvl="0" marL="0" rtl="0" algn="l">
              <a:spcBef>
                <a:spcPts val="1200"/>
              </a:spcBef>
              <a:spcAft>
                <a:spcPts val="0"/>
              </a:spcAft>
              <a:buNone/>
            </a:pPr>
            <a:r>
              <a:rPr b="1" lang="en-GB" sz="1400">
                <a:solidFill>
                  <a:srgbClr val="000000"/>
                </a:solidFill>
              </a:rPr>
              <a:t>Kubra Noor             L1F21BSSE0211</a:t>
            </a:r>
            <a:endParaRPr b="1" sz="1400">
              <a:solidFill>
                <a:srgbClr val="000000"/>
              </a:solidFill>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en-GB" sz="1600">
                <a:solidFill>
                  <a:srgbClr val="000000"/>
                </a:solidFill>
                <a:latin typeface="Arial"/>
                <a:ea typeface="Arial"/>
                <a:cs typeface="Arial"/>
                <a:sym typeface="Arial"/>
              </a:rPr>
              <a:t>Background</a:t>
            </a:r>
            <a:endParaRPr/>
          </a:p>
        </p:txBody>
      </p:sp>
      <p:sp>
        <p:nvSpPr>
          <p:cNvPr id="99" name="Google Shape;99;p1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t/>
            </a:r>
            <a:endParaRPr b="1" sz="1600">
              <a:solidFill>
                <a:srgbClr val="000000"/>
              </a:solidFill>
            </a:endParaRPr>
          </a:p>
          <a:p>
            <a:pPr indent="0" lvl="0" marL="0" rtl="0" algn="l">
              <a:spcBef>
                <a:spcPts val="1200"/>
              </a:spcBef>
              <a:spcAft>
                <a:spcPts val="0"/>
              </a:spcAft>
              <a:buNone/>
            </a:pPr>
            <a:r>
              <a:rPr lang="en-GB" sz="1200">
                <a:solidFill>
                  <a:srgbClr val="000000"/>
                </a:solidFill>
              </a:rPr>
              <a:t>With the increasing demand for international travel, education, and work opportunities, visa application</a:t>
            </a:r>
            <a:endParaRPr sz="1200">
              <a:solidFill>
                <a:srgbClr val="000000"/>
              </a:solidFill>
            </a:endParaRPr>
          </a:p>
          <a:p>
            <a:pPr indent="0" lvl="0" marL="0" rtl="0" algn="l">
              <a:spcBef>
                <a:spcPts val="1200"/>
              </a:spcBef>
              <a:spcAft>
                <a:spcPts val="0"/>
              </a:spcAft>
              <a:buNone/>
            </a:pPr>
            <a:r>
              <a:rPr lang="en-GB" sz="1200">
                <a:solidFill>
                  <a:srgbClr val="000000"/>
                </a:solidFill>
              </a:rPr>
              <a:t>processes have become a crucial aspect of global mobility. As we know that the current tools lack</a:t>
            </a:r>
            <a:endParaRPr sz="1200">
              <a:solidFill>
                <a:srgbClr val="000000"/>
              </a:solidFill>
            </a:endParaRPr>
          </a:p>
          <a:p>
            <a:pPr indent="0" lvl="0" marL="0" rtl="0" algn="l">
              <a:spcBef>
                <a:spcPts val="1200"/>
              </a:spcBef>
              <a:spcAft>
                <a:spcPts val="0"/>
              </a:spcAft>
              <a:buNone/>
            </a:pPr>
            <a:r>
              <a:rPr lang="en-GB" sz="1200">
                <a:solidFill>
                  <a:srgbClr val="000000"/>
                </a:solidFill>
              </a:rPr>
              <a:t>personalization and rely heavily on static information. Integrating artificial intelligence into this</a:t>
            </a:r>
            <a:endParaRPr sz="1200">
              <a:solidFill>
                <a:srgbClr val="000000"/>
              </a:solidFill>
            </a:endParaRPr>
          </a:p>
          <a:p>
            <a:pPr indent="0" lvl="0" marL="0" rtl="0" algn="l">
              <a:spcBef>
                <a:spcPts val="1200"/>
              </a:spcBef>
              <a:spcAft>
                <a:spcPts val="0"/>
              </a:spcAft>
              <a:buNone/>
            </a:pPr>
            <a:r>
              <a:rPr lang="en-GB" sz="1200">
                <a:solidFill>
                  <a:srgbClr val="000000"/>
                </a:solidFill>
              </a:rPr>
              <a:t>domain can transform the experience, reducing uncertainty and improving approval rates.</a:t>
            </a:r>
            <a:endParaRPr sz="1200">
              <a:solidFill>
                <a:srgbClr val="000000"/>
              </a:solidFill>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Related Work</a:t>
            </a:r>
            <a:endParaRPr/>
          </a:p>
        </p:txBody>
      </p:sp>
      <p:sp>
        <p:nvSpPr>
          <p:cNvPr id="105" name="Google Shape;105;p1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AutoNum type="arabicPeriod"/>
            </a:pPr>
            <a:r>
              <a:rPr lang="en-GB"/>
              <a:t>Common App Portal      </a:t>
            </a:r>
            <a:r>
              <a:rPr lang="en-GB" u="sng">
                <a:solidFill>
                  <a:schemeClr val="hlink"/>
                </a:solidFill>
                <a:highlight>
                  <a:srgbClr val="FFFFFF"/>
                </a:highlight>
                <a:hlinkClick r:id="rId3"/>
              </a:rPr>
              <a:t>https://apply.commonapp.org</a:t>
            </a:r>
            <a:endParaRPr u="sng">
              <a:solidFill>
                <a:schemeClr val="hlink"/>
              </a:solidFill>
              <a:highlight>
                <a:srgbClr val="FFFFFF"/>
              </a:highlight>
            </a:endParaRPr>
          </a:p>
          <a:p>
            <a:pPr indent="-311150" lvl="0" marL="457200" rtl="0" algn="l">
              <a:lnSpc>
                <a:spcPct val="130000"/>
              </a:lnSpc>
              <a:spcBef>
                <a:spcPts val="0"/>
              </a:spcBef>
              <a:spcAft>
                <a:spcPts val="0"/>
              </a:spcAft>
              <a:buSzPts val="1300"/>
              <a:buAutoNum type="arabicPeriod"/>
            </a:pPr>
            <a:r>
              <a:rPr lang="en-GB">
                <a:solidFill>
                  <a:srgbClr val="000000"/>
                </a:solidFill>
              </a:rPr>
              <a:t>Visabot                                  </a:t>
            </a:r>
            <a:r>
              <a:rPr lang="en-GB" u="sng">
                <a:solidFill>
                  <a:srgbClr val="4D5156"/>
                </a:solidFill>
                <a:highlight>
                  <a:srgbClr val="FFFFFF"/>
                </a:highlight>
                <a:hlinkClick r:id="rId4">
                  <a:extLst>
                    <a:ext uri="{A12FA001-AC4F-418D-AE19-62706E023703}">
                      <ahyp:hlinkClr val="tx"/>
                    </a:ext>
                  </a:extLst>
                </a:hlinkClick>
              </a:rPr>
              <a:t>https://visabot.eu</a:t>
            </a:r>
            <a:endParaRPr>
              <a:solidFill>
                <a:srgbClr val="000000"/>
              </a:solidFill>
            </a:endParaRPr>
          </a:p>
          <a:p>
            <a:pPr indent="-311150" lvl="0" marL="457200" rtl="0" algn="l">
              <a:lnSpc>
                <a:spcPct val="130000"/>
              </a:lnSpc>
              <a:spcBef>
                <a:spcPts val="0"/>
              </a:spcBef>
              <a:spcAft>
                <a:spcPts val="0"/>
              </a:spcAft>
              <a:buSzPts val="1300"/>
              <a:buAutoNum type="arabicPeriod"/>
            </a:pPr>
            <a:r>
              <a:rPr lang="en-GB">
                <a:solidFill>
                  <a:srgbClr val="000000"/>
                </a:solidFill>
              </a:rPr>
              <a:t> myVisa.io                             (no more available) </a:t>
            </a:r>
            <a:endParaRPr>
              <a:solidFill>
                <a:srgbClr val="000000"/>
              </a:solidFill>
            </a:endParaRPr>
          </a:p>
          <a:p>
            <a:pPr indent="-311150" lvl="0" marL="457200" rtl="0" algn="l">
              <a:lnSpc>
                <a:spcPct val="130000"/>
              </a:lnSpc>
              <a:spcBef>
                <a:spcPts val="0"/>
              </a:spcBef>
              <a:spcAft>
                <a:spcPts val="0"/>
              </a:spcAft>
              <a:buSzPts val="1300"/>
              <a:buAutoNum type="arabicPeriod"/>
            </a:pPr>
            <a:r>
              <a:rPr lang="en-GB">
                <a:solidFill>
                  <a:srgbClr val="000000"/>
                </a:solidFill>
              </a:rPr>
              <a:t>VisaHQ                                  </a:t>
            </a:r>
            <a:r>
              <a:rPr lang="en-GB" u="sng">
                <a:solidFill>
                  <a:schemeClr val="hlink"/>
                </a:solidFill>
                <a:hlinkClick r:id="rId5"/>
              </a:rPr>
              <a:t>https://www.visahq.pk/en/</a:t>
            </a:r>
            <a:endParaRPr>
              <a:solidFill>
                <a:srgbClr val="000000"/>
              </a:solidFill>
            </a:endParaRPr>
          </a:p>
          <a:p>
            <a:pPr indent="0" lvl="0" marL="0" rtl="0" algn="l">
              <a:lnSpc>
                <a:spcPct val="130000"/>
              </a:lnSpc>
              <a:spcBef>
                <a:spcPts val="0"/>
              </a:spcBef>
              <a:spcAft>
                <a:spcPts val="0"/>
              </a:spcAft>
              <a:buNone/>
            </a:pPr>
            <a:r>
              <a:t/>
            </a:r>
            <a:endParaRPr sz="1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400"/>
              </a:spcBef>
              <a:spcAft>
                <a:spcPts val="0"/>
              </a:spcAft>
              <a:buNone/>
            </a:pPr>
            <a:r>
              <a:rPr lang="en-GB" sz="2300">
                <a:solidFill>
                  <a:srgbClr val="000000"/>
                </a:solidFill>
                <a:latin typeface="Arial"/>
                <a:ea typeface="Arial"/>
                <a:cs typeface="Arial"/>
                <a:sym typeface="Arial"/>
              </a:rPr>
              <a:t>How We Are Different from Others</a:t>
            </a:r>
            <a:endParaRPr sz="2300">
              <a:solidFill>
                <a:srgbClr val="000000"/>
              </a:solidFill>
              <a:latin typeface="Arial"/>
              <a:ea typeface="Arial"/>
              <a:cs typeface="Arial"/>
              <a:sym typeface="Arial"/>
            </a:endParaRPr>
          </a:p>
          <a:p>
            <a:pPr indent="0" lvl="0" marL="0" rtl="0" algn="l">
              <a:spcBef>
                <a:spcPts val="400"/>
              </a:spcBef>
              <a:spcAft>
                <a:spcPts val="0"/>
              </a:spcAft>
              <a:buNone/>
            </a:pPr>
            <a:r>
              <a:t/>
            </a:r>
            <a:endParaRPr sz="2300">
              <a:solidFill>
                <a:srgbClr val="000000"/>
              </a:solidFill>
              <a:latin typeface="Arial"/>
              <a:ea typeface="Arial"/>
              <a:cs typeface="Arial"/>
              <a:sym typeface="Arial"/>
            </a:endParaRPr>
          </a:p>
          <a:p>
            <a:pPr indent="0" lvl="0" marL="0" rtl="0" algn="l">
              <a:spcBef>
                <a:spcPts val="0"/>
              </a:spcBef>
              <a:spcAft>
                <a:spcPts val="0"/>
              </a:spcAft>
              <a:buNone/>
            </a:pPr>
            <a:r>
              <a:t/>
            </a:r>
            <a:endParaRPr/>
          </a:p>
        </p:txBody>
      </p:sp>
      <p:sp>
        <p:nvSpPr>
          <p:cNvPr id="111" name="Google Shape;111;p17"/>
          <p:cNvSpPr txBox="1"/>
          <p:nvPr>
            <p:ph idx="1" type="body"/>
          </p:nvPr>
        </p:nvSpPr>
        <p:spPr>
          <a:xfrm>
            <a:off x="729450" y="2078875"/>
            <a:ext cx="7688700" cy="25491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298450" lvl="0" marL="457200" rtl="0" algn="just">
              <a:lnSpc>
                <a:spcPct val="100000"/>
              </a:lnSpc>
              <a:spcBef>
                <a:spcPts val="1200"/>
              </a:spcBef>
              <a:spcAft>
                <a:spcPts val="0"/>
              </a:spcAft>
              <a:buClr>
                <a:srgbClr val="000000"/>
              </a:buClr>
              <a:buSzPts val="1100"/>
              <a:buFont typeface="Arial"/>
              <a:buChar char="●"/>
            </a:pPr>
            <a:r>
              <a:rPr b="1" lang="en-GB" sz="1100">
                <a:solidFill>
                  <a:srgbClr val="000000"/>
                </a:solidFill>
              </a:rPr>
              <a:t>Common App Portal</a:t>
            </a:r>
            <a:r>
              <a:rPr lang="en-GB" sz="1100">
                <a:solidFill>
                  <a:srgbClr val="000000"/>
                </a:solidFill>
              </a:rPr>
              <a:t> (</a:t>
            </a:r>
            <a:r>
              <a:rPr lang="en-GB" sz="1100" u="sng">
                <a:solidFill>
                  <a:schemeClr val="accent5"/>
                </a:solidFill>
                <a:hlinkClick r:id="rId3">
                  <a:extLst>
                    <a:ext uri="{A12FA001-AC4F-418D-AE19-62706E023703}">
                      <ahyp:hlinkClr val="tx"/>
                    </a:ext>
                  </a:extLst>
                </a:hlinkClick>
              </a:rPr>
              <a:t>apply.commonapp.org</a:t>
            </a:r>
            <a:r>
              <a:rPr lang="en-GB" sz="1100">
                <a:solidFill>
                  <a:srgbClr val="000000"/>
                </a:solidFill>
              </a:rPr>
              <a:t>)</a:t>
            </a:r>
            <a:br>
              <a:rPr lang="en-GB" sz="1100">
                <a:solidFill>
                  <a:srgbClr val="000000"/>
                </a:solidFill>
              </a:rPr>
            </a:br>
            <a:r>
              <a:rPr lang="en-GB" sz="1100">
                <a:solidFill>
                  <a:srgbClr val="000000"/>
                </a:solidFill>
              </a:rPr>
              <a:t>The Common App primarily collects documents and creates profiles for college and university applications. However, it does not provide personalized recommendations on which country, university, or visa type would best suit an applicant’s needs.</a:t>
            </a:r>
            <a:endParaRPr sz="1100">
              <a:solidFill>
                <a:srgbClr val="000000"/>
              </a:solidFill>
            </a:endParaRPr>
          </a:p>
          <a:p>
            <a:pPr indent="-298450" lvl="0" marL="457200" rtl="0" algn="just">
              <a:lnSpc>
                <a:spcPct val="100000"/>
              </a:lnSpc>
              <a:spcBef>
                <a:spcPts val="0"/>
              </a:spcBef>
              <a:spcAft>
                <a:spcPts val="0"/>
              </a:spcAft>
              <a:buClr>
                <a:srgbClr val="000000"/>
              </a:buClr>
              <a:buSzPts val="1100"/>
              <a:buFont typeface="Arial"/>
              <a:buChar char="●"/>
            </a:pPr>
            <a:r>
              <a:rPr b="1" lang="en-GB" sz="1100">
                <a:solidFill>
                  <a:srgbClr val="000000"/>
                </a:solidFill>
              </a:rPr>
              <a:t>VisaBot</a:t>
            </a:r>
            <a:r>
              <a:rPr lang="en-GB" sz="1100">
                <a:solidFill>
                  <a:srgbClr val="000000"/>
                </a:solidFill>
              </a:rPr>
              <a:t> (</a:t>
            </a:r>
            <a:r>
              <a:rPr lang="en-GB" sz="1100" u="sng">
                <a:solidFill>
                  <a:schemeClr val="accent5"/>
                </a:solidFill>
                <a:hlinkClick r:id="rId4">
                  <a:extLst>
                    <a:ext uri="{A12FA001-AC4F-418D-AE19-62706E023703}">
                      <ahyp:hlinkClr val="tx"/>
                    </a:ext>
                  </a:extLst>
                </a:hlinkClick>
              </a:rPr>
              <a:t>visabot.eu</a:t>
            </a:r>
            <a:r>
              <a:rPr lang="en-GB" sz="1100">
                <a:solidFill>
                  <a:srgbClr val="000000"/>
                </a:solidFill>
              </a:rPr>
              <a:t>)</a:t>
            </a:r>
            <a:br>
              <a:rPr lang="en-GB" sz="1100">
                <a:solidFill>
                  <a:srgbClr val="000000"/>
                </a:solidFill>
              </a:rPr>
            </a:br>
            <a:r>
              <a:rPr lang="en-GB" sz="1100">
                <a:solidFill>
                  <a:srgbClr val="000000"/>
                </a:solidFill>
              </a:rPr>
              <a:t>VisaBot focuses on Schengen visa appointments. It sends instant notifications when appointments become available at Schengen Visa Centres and even auto-books them. However, it does not assist users in choosing the best visa options based on their profiles.</a:t>
            </a:r>
            <a:endParaRPr sz="1100">
              <a:solidFill>
                <a:srgbClr val="000000"/>
              </a:solidFill>
            </a:endParaRPr>
          </a:p>
          <a:p>
            <a:pPr indent="-298450" lvl="0" marL="457200" rtl="0" algn="just">
              <a:lnSpc>
                <a:spcPct val="100000"/>
              </a:lnSpc>
              <a:spcBef>
                <a:spcPts val="0"/>
              </a:spcBef>
              <a:spcAft>
                <a:spcPts val="0"/>
              </a:spcAft>
              <a:buClr>
                <a:srgbClr val="000000"/>
              </a:buClr>
              <a:buSzPts val="1100"/>
              <a:buFont typeface="Arial"/>
              <a:buChar char="●"/>
            </a:pPr>
            <a:r>
              <a:rPr b="1" lang="en-GB" sz="1100">
                <a:solidFill>
                  <a:srgbClr val="000000"/>
                </a:solidFill>
              </a:rPr>
              <a:t>VisaHQ</a:t>
            </a:r>
            <a:r>
              <a:rPr lang="en-GB" sz="1100">
                <a:solidFill>
                  <a:srgbClr val="000000"/>
                </a:solidFill>
              </a:rPr>
              <a:t> (</a:t>
            </a:r>
            <a:r>
              <a:rPr lang="en-GB" sz="1100" u="sng">
                <a:solidFill>
                  <a:schemeClr val="accent5"/>
                </a:solidFill>
                <a:hlinkClick r:id="rId5">
                  <a:extLst>
                    <a:ext uri="{A12FA001-AC4F-418D-AE19-62706E023703}">
                      <ahyp:hlinkClr val="tx"/>
                    </a:ext>
                  </a:extLst>
                </a:hlinkClick>
              </a:rPr>
              <a:t>visahq.pk/en</a:t>
            </a:r>
            <a:r>
              <a:rPr lang="en-GB" sz="1100">
                <a:solidFill>
                  <a:srgbClr val="000000"/>
                </a:solidFill>
              </a:rPr>
              <a:t>)</a:t>
            </a:r>
            <a:br>
              <a:rPr lang="en-GB" sz="1100">
                <a:solidFill>
                  <a:srgbClr val="000000"/>
                </a:solidFill>
              </a:rPr>
            </a:br>
            <a:r>
              <a:rPr lang="en-GB" sz="1100">
                <a:solidFill>
                  <a:srgbClr val="000000"/>
                </a:solidFill>
              </a:rPr>
              <a:t>VisaHQ allows users to apply for visas by selecting their preferred country and visa type. However, it does not offer AI-driven suggestions or personalized recommendations to help users determine the best option for their situation.</a:t>
            </a:r>
            <a:endParaRPr sz="1100">
              <a:solidFill>
                <a:srgbClr val="000000"/>
              </a:solidFill>
            </a:endParaRPr>
          </a:p>
          <a:p>
            <a:pPr indent="-298450" lvl="0" marL="457200" rtl="0" algn="just">
              <a:lnSpc>
                <a:spcPct val="100000"/>
              </a:lnSpc>
              <a:spcBef>
                <a:spcPts val="0"/>
              </a:spcBef>
              <a:spcAft>
                <a:spcPts val="0"/>
              </a:spcAft>
              <a:buClr>
                <a:srgbClr val="000000"/>
              </a:buClr>
              <a:buSzPts val="1100"/>
              <a:buFont typeface="Arial"/>
              <a:buChar char="●"/>
            </a:pPr>
            <a:r>
              <a:rPr b="1" lang="en-GB" sz="1100">
                <a:solidFill>
                  <a:srgbClr val="000000"/>
                </a:solidFill>
              </a:rPr>
              <a:t>myVisa.io</a:t>
            </a:r>
            <a:r>
              <a:rPr lang="en-GB" sz="1100">
                <a:solidFill>
                  <a:srgbClr val="000000"/>
                </a:solidFill>
              </a:rPr>
              <a:t> </a:t>
            </a:r>
            <a:r>
              <a:rPr i="1" lang="en-GB" sz="1100">
                <a:solidFill>
                  <a:srgbClr val="000000"/>
                </a:solidFill>
              </a:rPr>
              <a:t>(No longer available)</a:t>
            </a:r>
            <a:br>
              <a:rPr i="1" lang="en-GB" sz="1100">
                <a:solidFill>
                  <a:srgbClr val="000000"/>
                </a:solidFill>
              </a:rPr>
            </a:br>
            <a:r>
              <a:rPr lang="en-GB" sz="1100">
                <a:solidFill>
                  <a:srgbClr val="000000"/>
                </a:solidFill>
              </a:rPr>
              <a:t>The platform is no longer active, and its domain is currently available for purchase.</a:t>
            </a:r>
            <a:endParaRPr sz="1100">
              <a:solidFill>
                <a:srgbClr val="000000"/>
              </a:solidFill>
            </a:endParaRPr>
          </a:p>
          <a:p>
            <a:pPr indent="0" lvl="0" marL="0" rtl="0" algn="just">
              <a:spcBef>
                <a:spcPts val="1200"/>
              </a:spcBef>
              <a:spcAft>
                <a:spcPts val="0"/>
              </a:spcAft>
              <a:buNone/>
            </a:pPr>
            <a:r>
              <a:t/>
            </a:r>
            <a:endParaRPr sz="1100"/>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What Makes Us Unique?</a:t>
            </a:r>
            <a:endParaRPr/>
          </a:p>
        </p:txBody>
      </p:sp>
      <p:sp>
        <p:nvSpPr>
          <p:cNvPr id="117" name="Google Shape;117;p1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Unlike these platforms, our AI-powered solution goes beyond just collecting documents or offering basic visa services. We analyze users’ profiles and provide tailored recommendations on:</a:t>
            </a:r>
            <a:endParaRPr/>
          </a:p>
          <a:p>
            <a:pPr indent="0" lvl="0" marL="0" rtl="0" algn="l">
              <a:spcBef>
                <a:spcPts val="1200"/>
              </a:spcBef>
              <a:spcAft>
                <a:spcPts val="0"/>
              </a:spcAft>
              <a:buNone/>
            </a:pPr>
            <a:r>
              <a:rPr lang="en-GB"/>
              <a:t>✅ The best country based on their background and preferences</a:t>
            </a:r>
            <a:endParaRPr/>
          </a:p>
          <a:p>
            <a:pPr indent="0" lvl="0" marL="0" rtl="0" algn="l">
              <a:spcBef>
                <a:spcPts val="1200"/>
              </a:spcBef>
              <a:spcAft>
                <a:spcPts val="0"/>
              </a:spcAft>
              <a:buNone/>
            </a:pPr>
            <a:r>
              <a:rPr lang="en-GB"/>
              <a:t>✅ The most suitable visa type for their needs</a:t>
            </a:r>
            <a:endParaRPr/>
          </a:p>
          <a:p>
            <a:pPr indent="0" lvl="0" marL="0" rtl="0" algn="l">
              <a:spcBef>
                <a:spcPts val="1200"/>
              </a:spcBef>
              <a:spcAft>
                <a:spcPts val="0"/>
              </a:spcAft>
              <a:buNone/>
            </a:pPr>
            <a:r>
              <a:rPr lang="en-GB"/>
              <a:t>✅ Real-time updates on their visa application status</a:t>
            </a:r>
            <a:endParaRPr/>
          </a:p>
          <a:p>
            <a:pPr indent="0" lvl="0" marL="0" rtl="0" algn="l">
              <a:spcBef>
                <a:spcPts val="1200"/>
              </a:spcBef>
              <a:spcAft>
                <a:spcPts val="1200"/>
              </a:spcAft>
              <a:buNone/>
            </a:pPr>
            <a:r>
              <a:rPr lang="en-GB"/>
              <a:t>✅ Insights from other applicants' experiences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idx="1" type="body"/>
          </p:nvPr>
        </p:nvSpPr>
        <p:spPr>
          <a:xfrm>
            <a:off x="263350" y="4372550"/>
            <a:ext cx="15885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t>Class diagram</a:t>
            </a:r>
            <a:endParaRPr/>
          </a:p>
        </p:txBody>
      </p:sp>
      <p:pic>
        <p:nvPicPr>
          <p:cNvPr id="123" name="Google Shape;123;p19"/>
          <p:cNvPicPr preferRelativeResize="0"/>
          <p:nvPr/>
        </p:nvPicPr>
        <p:blipFill>
          <a:blip r:embed="rId3">
            <a:alphaModFix/>
          </a:blip>
          <a:stretch>
            <a:fillRect/>
          </a:stretch>
        </p:blipFill>
        <p:spPr>
          <a:xfrm>
            <a:off x="1983475" y="279675"/>
            <a:ext cx="6869126" cy="45841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idx="1" type="body"/>
          </p:nvPr>
        </p:nvSpPr>
        <p:spPr>
          <a:xfrm>
            <a:off x="204500" y="4372550"/>
            <a:ext cx="16977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t>ER Diagram</a:t>
            </a:r>
            <a:endParaRPr/>
          </a:p>
        </p:txBody>
      </p:sp>
      <p:pic>
        <p:nvPicPr>
          <p:cNvPr id="129" name="Google Shape;129;p20"/>
          <p:cNvPicPr preferRelativeResize="0"/>
          <p:nvPr/>
        </p:nvPicPr>
        <p:blipFill>
          <a:blip r:embed="rId3">
            <a:alphaModFix/>
          </a:blip>
          <a:stretch>
            <a:fillRect/>
          </a:stretch>
        </p:blipFill>
        <p:spPr>
          <a:xfrm>
            <a:off x="2165425" y="173800"/>
            <a:ext cx="6720999" cy="49215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idx="1" type="body"/>
          </p:nvPr>
        </p:nvSpPr>
        <p:spPr>
          <a:xfrm>
            <a:off x="4572000" y="4384600"/>
            <a:ext cx="25167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t>AI interaction Model</a:t>
            </a:r>
            <a:endParaRPr/>
          </a:p>
        </p:txBody>
      </p:sp>
      <p:pic>
        <p:nvPicPr>
          <p:cNvPr id="135" name="Google Shape;135;p21"/>
          <p:cNvPicPr preferRelativeResize="0"/>
          <p:nvPr/>
        </p:nvPicPr>
        <p:blipFill>
          <a:blip r:embed="rId3">
            <a:alphaModFix/>
          </a:blip>
          <a:stretch>
            <a:fillRect/>
          </a:stretch>
        </p:blipFill>
        <p:spPr>
          <a:xfrm>
            <a:off x="826950" y="91225"/>
            <a:ext cx="8317051" cy="41440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ph idx="1" type="body"/>
          </p:nvPr>
        </p:nvSpPr>
        <p:spPr>
          <a:xfrm>
            <a:off x="4070525" y="4372550"/>
            <a:ext cx="2260800" cy="460500"/>
          </a:xfrm>
          <a:prstGeom prst="rect">
            <a:avLst/>
          </a:prstGeom>
        </p:spPr>
        <p:txBody>
          <a:bodyPr anchorCtr="0" anchor="ctr" bIns="91425" lIns="91425" spcFirstLastPara="1" rIns="91425" wrap="square" tIns="91425">
            <a:noAutofit/>
          </a:bodyPr>
          <a:lstStyle/>
          <a:p>
            <a:pPr indent="0" lvl="0" marL="0" rtl="0" algn="l">
              <a:lnSpc>
                <a:spcPct val="115000"/>
              </a:lnSpc>
              <a:spcBef>
                <a:spcPts val="1300"/>
              </a:spcBef>
              <a:spcAft>
                <a:spcPts val="1300"/>
              </a:spcAft>
              <a:buNone/>
            </a:pPr>
            <a:r>
              <a:rPr lang="en-GB">
                <a:solidFill>
                  <a:srgbClr val="000000"/>
                </a:solidFill>
                <a:latin typeface="Arial"/>
                <a:ea typeface="Arial"/>
                <a:cs typeface="Arial"/>
                <a:sym typeface="Arial"/>
              </a:rPr>
              <a:t>Community Posts</a:t>
            </a:r>
            <a:endParaRPr/>
          </a:p>
        </p:txBody>
      </p:sp>
      <p:pic>
        <p:nvPicPr>
          <p:cNvPr id="141" name="Google Shape;141;p22"/>
          <p:cNvPicPr preferRelativeResize="0"/>
          <p:nvPr/>
        </p:nvPicPr>
        <p:blipFill>
          <a:blip r:embed="rId3">
            <a:alphaModFix/>
          </a:blip>
          <a:stretch>
            <a:fillRect/>
          </a:stretch>
        </p:blipFill>
        <p:spPr>
          <a:xfrm>
            <a:off x="724950" y="152400"/>
            <a:ext cx="7888374" cy="40677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idx="1" type="body"/>
          </p:nvPr>
        </p:nvSpPr>
        <p:spPr>
          <a:xfrm>
            <a:off x="3877225" y="3515300"/>
            <a:ext cx="1059000" cy="460500"/>
          </a:xfrm>
          <a:prstGeom prst="rect">
            <a:avLst/>
          </a:prstGeom>
        </p:spPr>
        <p:txBody>
          <a:bodyPr anchorCtr="0" anchor="ctr" bIns="91425" lIns="91425" spcFirstLastPara="1" rIns="91425" wrap="square" tIns="91425">
            <a:normAutofit/>
          </a:bodyPr>
          <a:lstStyle/>
          <a:p>
            <a:pPr indent="0" lvl="0" marL="0" rtl="0" algn="just">
              <a:spcBef>
                <a:spcPts val="0"/>
              </a:spcBef>
              <a:spcAft>
                <a:spcPts val="0"/>
              </a:spcAft>
              <a:buNone/>
            </a:pPr>
            <a:r>
              <a:rPr lang="en-GB"/>
              <a:t>Footer</a:t>
            </a:r>
            <a:endParaRPr/>
          </a:p>
        </p:txBody>
      </p:sp>
      <p:pic>
        <p:nvPicPr>
          <p:cNvPr id="147" name="Google Shape;147;p23"/>
          <p:cNvPicPr preferRelativeResize="0"/>
          <p:nvPr/>
        </p:nvPicPr>
        <p:blipFill>
          <a:blip r:embed="rId3">
            <a:alphaModFix/>
          </a:blip>
          <a:stretch>
            <a:fillRect/>
          </a:stretch>
        </p:blipFill>
        <p:spPr>
          <a:xfrm>
            <a:off x="304800" y="1631575"/>
            <a:ext cx="8839200" cy="142598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4"/>
          <p:cNvSpPr txBox="1"/>
          <p:nvPr>
            <p:ph idx="1" type="body"/>
          </p:nvPr>
        </p:nvSpPr>
        <p:spPr>
          <a:xfrm>
            <a:off x="3412650" y="4120425"/>
            <a:ext cx="23187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t>Vistelligence Community</a:t>
            </a:r>
            <a:endParaRPr/>
          </a:p>
        </p:txBody>
      </p:sp>
      <p:pic>
        <p:nvPicPr>
          <p:cNvPr id="153" name="Google Shape;153;p24"/>
          <p:cNvPicPr preferRelativeResize="0"/>
          <p:nvPr/>
        </p:nvPicPr>
        <p:blipFill>
          <a:blip r:embed="rId3">
            <a:alphaModFix/>
          </a:blip>
          <a:stretch>
            <a:fillRect/>
          </a:stretch>
        </p:blipFill>
        <p:spPr>
          <a:xfrm>
            <a:off x="152400" y="152400"/>
            <a:ext cx="8839200" cy="351301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5"/>
          <p:cNvSpPr txBox="1"/>
          <p:nvPr>
            <p:ph idx="1" type="body"/>
          </p:nvPr>
        </p:nvSpPr>
        <p:spPr>
          <a:xfrm>
            <a:off x="3826800" y="4372550"/>
            <a:ext cx="15633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t>Create Post Page</a:t>
            </a:r>
            <a:endParaRPr/>
          </a:p>
        </p:txBody>
      </p:sp>
      <p:pic>
        <p:nvPicPr>
          <p:cNvPr id="159" name="Google Shape;159;p25"/>
          <p:cNvPicPr preferRelativeResize="0"/>
          <p:nvPr/>
        </p:nvPicPr>
        <p:blipFill>
          <a:blip r:embed="rId3">
            <a:alphaModFix/>
          </a:blip>
          <a:stretch>
            <a:fillRect/>
          </a:stretch>
        </p:blipFill>
        <p:spPr>
          <a:xfrm>
            <a:off x="152400" y="152400"/>
            <a:ext cx="8752679" cy="406775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6"/>
          <p:cNvSpPr txBox="1"/>
          <p:nvPr>
            <p:ph idx="1" type="body"/>
          </p:nvPr>
        </p:nvSpPr>
        <p:spPr>
          <a:xfrm>
            <a:off x="3994900" y="4372550"/>
            <a:ext cx="10842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t>User Posts</a:t>
            </a:r>
            <a:endParaRPr/>
          </a:p>
        </p:txBody>
      </p:sp>
      <p:pic>
        <p:nvPicPr>
          <p:cNvPr id="165" name="Google Shape;165;p26"/>
          <p:cNvPicPr preferRelativeResize="0"/>
          <p:nvPr/>
        </p:nvPicPr>
        <p:blipFill>
          <a:blip r:embed="rId3">
            <a:alphaModFix/>
          </a:blip>
          <a:stretch>
            <a:fillRect/>
          </a:stretch>
        </p:blipFill>
        <p:spPr>
          <a:xfrm>
            <a:off x="152400" y="152400"/>
            <a:ext cx="8793107" cy="406775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7"/>
          <p:cNvSpPr txBox="1"/>
          <p:nvPr>
            <p:ph idx="1" type="body"/>
          </p:nvPr>
        </p:nvSpPr>
        <p:spPr>
          <a:xfrm>
            <a:off x="4078950" y="4355750"/>
            <a:ext cx="14709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t>Setting Page</a:t>
            </a:r>
            <a:endParaRPr/>
          </a:p>
        </p:txBody>
      </p:sp>
      <p:pic>
        <p:nvPicPr>
          <p:cNvPr id="171" name="Google Shape;171;p27"/>
          <p:cNvPicPr preferRelativeResize="0"/>
          <p:nvPr/>
        </p:nvPicPr>
        <p:blipFill>
          <a:blip r:embed="rId3">
            <a:alphaModFix/>
          </a:blip>
          <a:stretch>
            <a:fillRect/>
          </a:stretch>
        </p:blipFill>
        <p:spPr>
          <a:xfrm>
            <a:off x="152400" y="152400"/>
            <a:ext cx="8839200" cy="399463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8"/>
          <p:cNvSpPr txBox="1"/>
          <p:nvPr>
            <p:ph idx="1" type="body"/>
          </p:nvPr>
        </p:nvSpPr>
        <p:spPr>
          <a:xfrm>
            <a:off x="3725950" y="4372550"/>
            <a:ext cx="14706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t>Signup Page</a:t>
            </a:r>
            <a:endParaRPr/>
          </a:p>
        </p:txBody>
      </p:sp>
      <p:pic>
        <p:nvPicPr>
          <p:cNvPr id="177" name="Google Shape;177;p28"/>
          <p:cNvPicPr preferRelativeResize="0"/>
          <p:nvPr/>
        </p:nvPicPr>
        <p:blipFill>
          <a:blip r:embed="rId3">
            <a:alphaModFix/>
          </a:blip>
          <a:stretch>
            <a:fillRect/>
          </a:stretch>
        </p:blipFill>
        <p:spPr>
          <a:xfrm>
            <a:off x="152400" y="152400"/>
            <a:ext cx="8672927" cy="406775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9"/>
          <p:cNvSpPr txBox="1"/>
          <p:nvPr>
            <p:ph idx="1" type="body"/>
          </p:nvPr>
        </p:nvSpPr>
        <p:spPr>
          <a:xfrm>
            <a:off x="3507450" y="4338925"/>
            <a:ext cx="13530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t>Login Page</a:t>
            </a:r>
            <a:endParaRPr/>
          </a:p>
        </p:txBody>
      </p:sp>
      <p:pic>
        <p:nvPicPr>
          <p:cNvPr id="183" name="Google Shape;183;p29"/>
          <p:cNvPicPr preferRelativeResize="0"/>
          <p:nvPr/>
        </p:nvPicPr>
        <p:blipFill>
          <a:blip r:embed="rId3">
            <a:alphaModFix/>
          </a:blip>
          <a:stretch>
            <a:fillRect/>
          </a:stretch>
        </p:blipFill>
        <p:spPr>
          <a:xfrm>
            <a:off x="152400" y="152400"/>
            <a:ext cx="8793107" cy="406775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0"/>
          <p:cNvSpPr txBox="1"/>
          <p:nvPr>
            <p:ph idx="1" type="body"/>
          </p:nvPr>
        </p:nvSpPr>
        <p:spPr>
          <a:xfrm>
            <a:off x="3347750" y="4372550"/>
            <a:ext cx="1731300" cy="460500"/>
          </a:xfrm>
          <a:prstGeom prst="rect">
            <a:avLst/>
          </a:prstGeom>
        </p:spPr>
        <p:txBody>
          <a:bodyPr anchorCtr="0" anchor="ctr" bIns="91425" lIns="91425" spcFirstLastPara="1" rIns="91425" wrap="square" tIns="91425">
            <a:normAutofit fontScale="92500"/>
          </a:bodyPr>
          <a:lstStyle/>
          <a:p>
            <a:pPr indent="0" lvl="0" marL="0" rtl="0" algn="l">
              <a:spcBef>
                <a:spcPts val="0"/>
              </a:spcBef>
              <a:spcAft>
                <a:spcPts val="0"/>
              </a:spcAft>
              <a:buNone/>
            </a:pPr>
            <a:r>
              <a:rPr lang="en-GB"/>
              <a:t>Block/UNBlock Emails</a:t>
            </a:r>
            <a:endParaRPr/>
          </a:p>
        </p:txBody>
      </p:sp>
      <p:pic>
        <p:nvPicPr>
          <p:cNvPr id="189" name="Google Shape;189;p30"/>
          <p:cNvPicPr preferRelativeResize="0"/>
          <p:nvPr/>
        </p:nvPicPr>
        <p:blipFill>
          <a:blip r:embed="rId3">
            <a:alphaModFix/>
          </a:blip>
          <a:stretch>
            <a:fillRect/>
          </a:stretch>
        </p:blipFill>
        <p:spPr>
          <a:xfrm>
            <a:off x="152400" y="152400"/>
            <a:ext cx="8555990" cy="406775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1"/>
          <p:cNvSpPr txBox="1"/>
          <p:nvPr>
            <p:ph idx="1" type="body"/>
          </p:nvPr>
        </p:nvSpPr>
        <p:spPr>
          <a:xfrm>
            <a:off x="3583075" y="4372550"/>
            <a:ext cx="14457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t>Verifying</a:t>
            </a:r>
            <a:r>
              <a:rPr lang="en-GB"/>
              <a:t> Emails</a:t>
            </a:r>
            <a:endParaRPr/>
          </a:p>
        </p:txBody>
      </p:sp>
      <p:pic>
        <p:nvPicPr>
          <p:cNvPr id="195" name="Google Shape;195;p31"/>
          <p:cNvPicPr preferRelativeResize="0"/>
          <p:nvPr/>
        </p:nvPicPr>
        <p:blipFill>
          <a:blip r:embed="rId3">
            <a:alphaModFix/>
          </a:blip>
          <a:stretch>
            <a:fillRect/>
          </a:stretch>
        </p:blipFill>
        <p:spPr>
          <a:xfrm>
            <a:off x="152400" y="152400"/>
            <a:ext cx="8498695" cy="406775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2"/>
          <p:cNvSpPr txBox="1"/>
          <p:nvPr>
            <p:ph idx="1" type="body"/>
          </p:nvPr>
        </p:nvSpPr>
        <p:spPr>
          <a:xfrm>
            <a:off x="3868825" y="4372550"/>
            <a:ext cx="13026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t>Reported Post</a:t>
            </a:r>
            <a:endParaRPr/>
          </a:p>
        </p:txBody>
      </p:sp>
      <p:pic>
        <p:nvPicPr>
          <p:cNvPr id="201" name="Google Shape;201;p32"/>
          <p:cNvPicPr preferRelativeResize="0"/>
          <p:nvPr/>
        </p:nvPicPr>
        <p:blipFill>
          <a:blip r:embed="rId3">
            <a:alphaModFix/>
          </a:blip>
          <a:stretch>
            <a:fillRect/>
          </a:stretch>
        </p:blipFill>
        <p:spPr>
          <a:xfrm>
            <a:off x="152400" y="152400"/>
            <a:ext cx="8555990" cy="406775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Data set </a:t>
            </a:r>
            <a:endParaRPr/>
          </a:p>
        </p:txBody>
      </p:sp>
      <p:sp>
        <p:nvSpPr>
          <p:cNvPr id="207" name="Google Shape;207;p3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Paste link here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Front-end Hosted Link </a:t>
            </a:r>
            <a:endParaRPr/>
          </a:p>
        </p:txBody>
      </p:sp>
      <p:sp>
        <p:nvSpPr>
          <p:cNvPr id="213" name="Google Shape;213;p3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u="sng">
                <a:solidFill>
                  <a:schemeClr val="hlink"/>
                </a:solidFill>
                <a:hlinkClick r:id="rId3"/>
              </a:rPr>
              <a:t>https://vistelligence.netlify.app/</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Bug Report</a:t>
            </a:r>
            <a:endParaRPr/>
          </a:p>
        </p:txBody>
      </p:sp>
      <p:sp>
        <p:nvSpPr>
          <p:cNvPr id="219" name="Google Shape;219;p3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Paste link here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500"/>
              <a:t>Any Question?</a:t>
            </a:r>
            <a:endParaRPr sz="2500"/>
          </a:p>
        </p:txBody>
      </p:sp>
      <p:sp>
        <p:nvSpPr>
          <p:cNvPr id="225" name="Google Shape;225;p36"/>
          <p:cNvSpPr txBox="1"/>
          <p:nvPr>
            <p:ph idx="1" type="body"/>
          </p:nvPr>
        </p:nvSpPr>
        <p:spPr>
          <a:xfrm>
            <a:off x="3690025" y="1797100"/>
            <a:ext cx="47850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200"/>
              <a:t> </a:t>
            </a:r>
            <a:endParaRPr sz="1200"/>
          </a:p>
          <a:p>
            <a:pPr indent="0" lvl="0" marL="0" rtl="0" algn="l">
              <a:spcBef>
                <a:spcPts val="1200"/>
              </a:spcBef>
              <a:spcAft>
                <a:spcPts val="0"/>
              </a:spcAft>
              <a:buNone/>
            </a:pPr>
            <a:r>
              <a:t/>
            </a:r>
            <a:endParaRPr sz="1200"/>
          </a:p>
          <a:p>
            <a:pPr indent="0" lvl="0" marL="0" rtl="0" algn="l">
              <a:spcBef>
                <a:spcPts val="1200"/>
              </a:spcBef>
              <a:spcAft>
                <a:spcPts val="0"/>
              </a:spcAft>
              <a:buNone/>
            </a:pPr>
            <a:r>
              <a:t/>
            </a:r>
            <a:endParaRPr sz="1200"/>
          </a:p>
          <a:p>
            <a:pPr indent="0" lvl="0" marL="0" rtl="0" algn="l">
              <a:spcBef>
                <a:spcPts val="1200"/>
              </a:spcBef>
              <a:spcAft>
                <a:spcPts val="1200"/>
              </a:spcAft>
              <a:buNone/>
            </a:pPr>
            <a:r>
              <a:rPr lang="en-GB" sz="1200"/>
              <a:t>Thank You!</a:t>
            </a:r>
            <a:endParaRPr sz="12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