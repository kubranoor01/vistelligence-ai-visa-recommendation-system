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01022d112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01022d112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d251bb47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d251bb47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d251bb473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d251bb473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e965474a9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e965474a9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723630543_1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723630543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b9a0b074_1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b9a0b074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01022d11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01022d11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e965474a9_3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e965474a9_3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cb9a0b074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cb9a0b074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2.png"/><Relationship Id="rId5" Type="http://schemas.openxmlformats.org/officeDocument/2006/relationships/hyperlink" Target="https://pitchbook.com/profiles/company/170398-36#overview" TargetMode="External"/><Relationship Id="rId6" Type="http://schemas.openxmlformats.org/officeDocument/2006/relationships/hyperlink" Target="https://myvisa.io" TargetMode="External"/><Relationship Id="rId7" Type="http://schemas.openxmlformats.org/officeDocument/2006/relationships/hyperlink" Target="https://www.visahq.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469175" y="549850"/>
            <a:ext cx="8164500" cy="11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Title: “Vistelligent”</a:t>
            </a:r>
            <a:endParaRPr/>
          </a:p>
          <a:p>
            <a:pPr indent="0" lvl="0" marL="0" rtl="0" algn="l">
              <a:spcBef>
                <a:spcPts val="0"/>
              </a:spcBef>
              <a:spcAft>
                <a:spcPts val="0"/>
              </a:spcAft>
              <a:buNone/>
            </a:pPr>
            <a:r>
              <a:rPr lang="en"/>
              <a:t>           </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400"/>
              <a:t>AI-Based Visa Predictor App</a:t>
            </a:r>
            <a:endParaRPr b="1" sz="2400"/>
          </a:p>
        </p:txBody>
      </p:sp>
      <p:sp>
        <p:nvSpPr>
          <p:cNvPr id="74" name="Google Shape;74;p13"/>
          <p:cNvSpPr txBox="1"/>
          <p:nvPr/>
        </p:nvSpPr>
        <p:spPr>
          <a:xfrm>
            <a:off x="2725200" y="1746250"/>
            <a:ext cx="4855200" cy="17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Presented by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L1f21bsse0025 (M. Sheharyar Ali)</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L1f21bsse0211 (Kubra Noor)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L1f21bsse0037 (Hina Ijaz)</a:t>
            </a:r>
            <a:endParaRPr sz="1800">
              <a:solidFill>
                <a:schemeClr val="dk2"/>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Introduction:</a:t>
            </a:r>
            <a:endParaRPr sz="2400"/>
          </a:p>
        </p:txBody>
      </p:sp>
      <p:sp>
        <p:nvSpPr>
          <p:cNvPr id="80" name="Google Shape;80;p14"/>
          <p:cNvSpPr txBox="1"/>
          <p:nvPr>
            <p:ph idx="4294967295" type="title"/>
          </p:nvPr>
        </p:nvSpPr>
        <p:spPr>
          <a:xfrm>
            <a:off x="535775" y="1480150"/>
            <a:ext cx="7631400" cy="2005500"/>
          </a:xfrm>
          <a:prstGeom prst="rect">
            <a:avLst/>
          </a:prstGeom>
        </p:spPr>
        <p:txBody>
          <a:bodyPr anchorCtr="0" anchor="t" bIns="91425" lIns="91425" spcFirstLastPara="1" rIns="91425" wrap="square" tIns="91425">
            <a:noAutofit/>
          </a:bodyPr>
          <a:lstStyle/>
          <a:p>
            <a:pPr indent="-311150" lvl="0" marL="457200" rtl="0" algn="just">
              <a:lnSpc>
                <a:spcPct val="150000"/>
              </a:lnSpc>
              <a:spcBef>
                <a:spcPts val="500"/>
              </a:spcBef>
              <a:spcAft>
                <a:spcPts val="0"/>
              </a:spcAft>
              <a:buSzPts val="1300"/>
              <a:buFont typeface="Arial"/>
              <a:buChar char="●"/>
            </a:pPr>
            <a:r>
              <a:rPr b="0" lang="en" sz="1300">
                <a:latin typeface="Arial"/>
                <a:ea typeface="Arial"/>
                <a:cs typeface="Arial"/>
                <a:sym typeface="Arial"/>
              </a:rPr>
              <a:t>Vistelligent is an AI-powered web app designed to streamline the visa application process.</a:t>
            </a:r>
            <a:endParaRPr b="0" sz="1300">
              <a:latin typeface="Arial"/>
              <a:ea typeface="Arial"/>
              <a:cs typeface="Arial"/>
              <a:sym typeface="Arial"/>
            </a:endParaRPr>
          </a:p>
          <a:p>
            <a:pPr indent="0" lvl="0" marL="457200" rtl="0" algn="just">
              <a:lnSpc>
                <a:spcPct val="150000"/>
              </a:lnSpc>
              <a:spcBef>
                <a:spcPts val="500"/>
              </a:spcBef>
              <a:spcAft>
                <a:spcPts val="0"/>
              </a:spcAft>
              <a:buNone/>
            </a:pPr>
            <a:r>
              <a:t/>
            </a:r>
            <a:endParaRPr b="0" sz="1300">
              <a:latin typeface="Arial"/>
              <a:ea typeface="Arial"/>
              <a:cs typeface="Arial"/>
              <a:sym typeface="Arial"/>
            </a:endParaRPr>
          </a:p>
          <a:p>
            <a:pPr indent="-311150" lvl="0" marL="457200" rtl="0" algn="just">
              <a:lnSpc>
                <a:spcPct val="150000"/>
              </a:lnSpc>
              <a:spcBef>
                <a:spcPts val="500"/>
              </a:spcBef>
              <a:spcAft>
                <a:spcPts val="0"/>
              </a:spcAft>
              <a:buSzPts val="1300"/>
              <a:buFont typeface="Arial"/>
              <a:buChar char="●"/>
            </a:pPr>
            <a:r>
              <a:rPr b="0" lang="en" sz="1300">
                <a:latin typeface="Arial"/>
                <a:ea typeface="Arial"/>
                <a:cs typeface="Arial"/>
                <a:sym typeface="Arial"/>
              </a:rPr>
              <a:t>It provides personalized visa recommendations, predicts approval chances, offers interview prep, and strategy suggestions, helping users make informed decisions.</a:t>
            </a:r>
            <a:endParaRPr b="0" sz="1300">
              <a:latin typeface="Arial"/>
              <a:ea typeface="Arial"/>
              <a:cs typeface="Arial"/>
              <a:sym typeface="Arial"/>
            </a:endParaRPr>
          </a:p>
          <a:p>
            <a:pPr indent="0" lvl="0" marL="457200" rtl="0" algn="l">
              <a:lnSpc>
                <a:spcPct val="150000"/>
              </a:lnSpc>
              <a:spcBef>
                <a:spcPts val="500"/>
              </a:spcBef>
              <a:spcAft>
                <a:spcPts val="1600"/>
              </a:spcAft>
              <a:buNone/>
            </a:pPr>
            <a:r>
              <a:t/>
            </a:r>
            <a:endParaRPr sz="17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Introduction:</a:t>
            </a:r>
            <a:endParaRPr sz="2400"/>
          </a:p>
        </p:txBody>
      </p:sp>
      <p:sp>
        <p:nvSpPr>
          <p:cNvPr id="86" name="Google Shape;86;p15"/>
          <p:cNvSpPr txBox="1"/>
          <p:nvPr>
            <p:ph idx="4294967295" type="title"/>
          </p:nvPr>
        </p:nvSpPr>
        <p:spPr>
          <a:xfrm>
            <a:off x="535775" y="1480150"/>
            <a:ext cx="7631400" cy="2005500"/>
          </a:xfrm>
          <a:prstGeom prst="rect">
            <a:avLst/>
          </a:prstGeom>
        </p:spPr>
        <p:txBody>
          <a:bodyPr anchorCtr="0" anchor="t" bIns="91425" lIns="91425" spcFirstLastPara="1" rIns="91425" wrap="square" tIns="91425">
            <a:noAutofit/>
          </a:bodyPr>
          <a:lstStyle/>
          <a:p>
            <a:pPr indent="-311150" lvl="0" marL="457200" rtl="0" algn="just">
              <a:lnSpc>
                <a:spcPct val="150000"/>
              </a:lnSpc>
              <a:spcBef>
                <a:spcPts val="500"/>
              </a:spcBef>
              <a:spcAft>
                <a:spcPts val="0"/>
              </a:spcAft>
              <a:buSzPts val="1300"/>
              <a:buFont typeface="Arial"/>
              <a:buChar char="●"/>
            </a:pPr>
            <a:r>
              <a:rPr b="0" lang="en" sz="1300">
                <a:latin typeface="Arial"/>
                <a:ea typeface="Arial"/>
                <a:cs typeface="Arial"/>
                <a:sym typeface="Arial"/>
              </a:rPr>
              <a:t>Vistelligent is an AI-powered web app designed to streamline the visa application process.</a:t>
            </a:r>
            <a:endParaRPr b="0" sz="1300">
              <a:latin typeface="Arial"/>
              <a:ea typeface="Arial"/>
              <a:cs typeface="Arial"/>
              <a:sym typeface="Arial"/>
            </a:endParaRPr>
          </a:p>
          <a:p>
            <a:pPr indent="0" lvl="0" marL="457200" rtl="0" algn="just">
              <a:lnSpc>
                <a:spcPct val="150000"/>
              </a:lnSpc>
              <a:spcBef>
                <a:spcPts val="500"/>
              </a:spcBef>
              <a:spcAft>
                <a:spcPts val="0"/>
              </a:spcAft>
              <a:buNone/>
            </a:pPr>
            <a:r>
              <a:t/>
            </a:r>
            <a:endParaRPr b="0" sz="1300">
              <a:latin typeface="Arial"/>
              <a:ea typeface="Arial"/>
              <a:cs typeface="Arial"/>
              <a:sym typeface="Arial"/>
            </a:endParaRPr>
          </a:p>
          <a:p>
            <a:pPr indent="-311150" lvl="0" marL="457200" rtl="0" algn="just">
              <a:lnSpc>
                <a:spcPct val="150000"/>
              </a:lnSpc>
              <a:spcBef>
                <a:spcPts val="500"/>
              </a:spcBef>
              <a:spcAft>
                <a:spcPts val="0"/>
              </a:spcAft>
              <a:buSzPts val="1300"/>
              <a:buFont typeface="Arial"/>
              <a:buChar char="●"/>
            </a:pPr>
            <a:r>
              <a:rPr b="0" lang="en" sz="1300">
                <a:latin typeface="Arial"/>
                <a:ea typeface="Arial"/>
                <a:cs typeface="Arial"/>
                <a:sym typeface="Arial"/>
              </a:rPr>
              <a:t>It provides personalized visa recommendations, predicts approval chances, offers interview prep, and strategy suggestions, helping users make informed decisions.</a:t>
            </a:r>
            <a:endParaRPr b="0" sz="1300">
              <a:latin typeface="Arial"/>
              <a:ea typeface="Arial"/>
              <a:cs typeface="Arial"/>
              <a:sym typeface="Arial"/>
            </a:endParaRPr>
          </a:p>
          <a:p>
            <a:pPr indent="0" lvl="0" marL="457200" rtl="0" algn="l">
              <a:lnSpc>
                <a:spcPct val="150000"/>
              </a:lnSpc>
              <a:spcBef>
                <a:spcPts val="500"/>
              </a:spcBef>
              <a:spcAft>
                <a:spcPts val="1600"/>
              </a:spcAft>
              <a:buNone/>
            </a:pPr>
            <a:r>
              <a:t/>
            </a:r>
            <a:endParaRPr sz="17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283100" y="712150"/>
            <a:ext cx="8631600" cy="185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5"/>
                </a:solidFill>
              </a:rPr>
              <a:t>Problem: </a:t>
            </a:r>
            <a:endParaRPr>
              <a:solidFill>
                <a:schemeClr val="accent5"/>
              </a:solidFill>
            </a:endParaRPr>
          </a:p>
          <a:p>
            <a:pPr indent="0" lvl="0" marL="0" rtl="0" algn="l">
              <a:spcBef>
                <a:spcPts val="0"/>
              </a:spcBef>
              <a:spcAft>
                <a:spcPts val="0"/>
              </a:spcAft>
              <a:buNone/>
            </a:pPr>
            <a:r>
              <a:rPr lang="en" sz="4700">
                <a:solidFill>
                  <a:schemeClr val="accent5"/>
                </a:solidFill>
              </a:rPr>
              <a:t>Visa applicants struggle with:</a:t>
            </a:r>
            <a:endParaRPr sz="4700">
              <a:solidFill>
                <a:schemeClr val="accent5"/>
              </a:solidFill>
            </a:endParaRPr>
          </a:p>
          <a:p>
            <a:pPr indent="0" lvl="0" marL="0" rtl="0" algn="l">
              <a:spcBef>
                <a:spcPts val="0"/>
              </a:spcBef>
              <a:spcAft>
                <a:spcPts val="0"/>
              </a:spcAft>
              <a:buNone/>
            </a:pPr>
            <a:r>
              <a:t/>
            </a:r>
            <a:endParaRPr sz="4700">
              <a:solidFill>
                <a:schemeClr val="accent5"/>
              </a:solidFill>
            </a:endParaRPr>
          </a:p>
        </p:txBody>
      </p:sp>
      <p:sp>
        <p:nvSpPr>
          <p:cNvPr id="92" name="Google Shape;92;p16"/>
          <p:cNvSpPr txBox="1"/>
          <p:nvPr/>
        </p:nvSpPr>
        <p:spPr>
          <a:xfrm>
            <a:off x="762000" y="2698750"/>
            <a:ext cx="7969200" cy="22542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500"/>
              </a:spcBef>
              <a:spcAft>
                <a:spcPts val="0"/>
              </a:spcAft>
              <a:buSzPts val="1200"/>
              <a:buChar char="●"/>
            </a:pPr>
            <a:r>
              <a:rPr lang="en" sz="1200"/>
              <a:t>Determining the correct visa type for their profile.</a:t>
            </a:r>
            <a:endParaRPr sz="1200"/>
          </a:p>
          <a:p>
            <a:pPr indent="-304800" lvl="0" marL="457200" rtl="0" algn="l">
              <a:lnSpc>
                <a:spcPct val="150000"/>
              </a:lnSpc>
              <a:spcBef>
                <a:spcPts val="0"/>
              </a:spcBef>
              <a:spcAft>
                <a:spcPts val="0"/>
              </a:spcAft>
              <a:buSzPts val="1200"/>
              <a:buChar char="●"/>
            </a:pPr>
            <a:r>
              <a:rPr lang="en" sz="1200"/>
              <a:t>Understanding the approval chances based on their documents and situation.</a:t>
            </a:r>
            <a:endParaRPr sz="1200"/>
          </a:p>
          <a:p>
            <a:pPr indent="-304800" lvl="0" marL="457200" rtl="0" algn="l">
              <a:lnSpc>
                <a:spcPct val="150000"/>
              </a:lnSpc>
              <a:spcBef>
                <a:spcPts val="0"/>
              </a:spcBef>
              <a:spcAft>
                <a:spcPts val="0"/>
              </a:spcAft>
              <a:buSzPts val="1200"/>
              <a:buChar char="●"/>
            </a:pPr>
            <a:r>
              <a:rPr lang="en" sz="1200"/>
              <a:t>Lack of personalized guidance on documents and interview prep.</a:t>
            </a:r>
            <a:endParaRPr sz="1200"/>
          </a:p>
          <a:p>
            <a:pPr indent="-304800" lvl="0" marL="457200" rtl="0" algn="l">
              <a:lnSpc>
                <a:spcPct val="150000"/>
              </a:lnSpc>
              <a:spcBef>
                <a:spcPts val="0"/>
              </a:spcBef>
              <a:spcAft>
                <a:spcPts val="0"/>
              </a:spcAft>
              <a:buSzPts val="1200"/>
              <a:buChar char="●"/>
            </a:pPr>
            <a:r>
              <a:rPr lang="en" sz="1200"/>
              <a:t>No tailored strategies for visa applications, leading to delays or rejections.</a:t>
            </a:r>
            <a:endParaRPr sz="1200"/>
          </a:p>
          <a:p>
            <a:pPr indent="0" lvl="0" marL="457200" rtl="0" algn="l">
              <a:lnSpc>
                <a:spcPct val="150000"/>
              </a:lnSpc>
              <a:spcBef>
                <a:spcPts val="500"/>
              </a:spcBef>
              <a:spcAft>
                <a:spcPts val="0"/>
              </a:spcAft>
              <a:buNone/>
            </a:pPr>
            <a:r>
              <a:t/>
            </a:r>
            <a:endParaRPr sz="1800">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7"/>
          <p:cNvSpPr txBox="1"/>
          <p:nvPr>
            <p:ph type="title"/>
          </p:nvPr>
        </p:nvSpPr>
        <p:spPr>
          <a:xfrm>
            <a:off x="169325" y="0"/>
            <a:ext cx="8836800" cy="12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5"/>
                </a:solidFill>
              </a:rPr>
              <a:t>Solution–</a:t>
            </a:r>
            <a:r>
              <a:rPr lang="en">
                <a:solidFill>
                  <a:srgbClr val="000000"/>
                </a:solidFill>
              </a:rPr>
              <a:t>Vistellegent offers:</a:t>
            </a:r>
            <a:endParaRPr>
              <a:solidFill>
                <a:srgbClr val="000000"/>
              </a:solidFill>
            </a:endParaRPr>
          </a:p>
          <a:p>
            <a:pPr indent="0" lvl="0" marL="0" rtl="0" algn="l">
              <a:spcBef>
                <a:spcPts val="1000"/>
              </a:spcBef>
              <a:spcAft>
                <a:spcPts val="1000"/>
              </a:spcAft>
              <a:buNone/>
            </a:pPr>
            <a:r>
              <a:t/>
            </a:r>
            <a:endParaRPr>
              <a:solidFill>
                <a:srgbClr val="000000"/>
              </a:solidFill>
            </a:endParaRPr>
          </a:p>
        </p:txBody>
      </p:sp>
      <p:sp>
        <p:nvSpPr>
          <p:cNvPr id="98" name="Google Shape;98;p17"/>
          <p:cNvSpPr txBox="1"/>
          <p:nvPr/>
        </p:nvSpPr>
        <p:spPr>
          <a:xfrm>
            <a:off x="329700" y="1630250"/>
            <a:ext cx="6735900" cy="3145200"/>
          </a:xfrm>
          <a:prstGeom prst="rect">
            <a:avLst/>
          </a:prstGeom>
          <a:noFill/>
          <a:ln>
            <a:noFill/>
          </a:ln>
        </p:spPr>
        <p:txBody>
          <a:bodyPr anchorCtr="0" anchor="t" bIns="91425" lIns="91425" spcFirstLastPara="1" rIns="91425" wrap="square" tIns="91425">
            <a:noAutofit/>
          </a:bodyPr>
          <a:lstStyle/>
          <a:p>
            <a:pPr indent="-228600" lvl="0" marL="914400" rtl="0" algn="just">
              <a:lnSpc>
                <a:spcPct val="150000"/>
              </a:lnSpc>
              <a:spcBef>
                <a:spcPts val="500"/>
              </a:spcBef>
              <a:spcAft>
                <a:spcPts val="0"/>
              </a:spcAft>
              <a:buClr>
                <a:schemeClr val="dk2"/>
              </a:buClr>
              <a:buSzPts val="1100"/>
              <a:buFont typeface="Arial"/>
              <a:buNone/>
            </a:pPr>
            <a:r>
              <a:rPr b="1" lang="en" sz="1200">
                <a:latin typeface="Courier New"/>
                <a:ea typeface="Courier New"/>
                <a:cs typeface="Courier New"/>
                <a:sym typeface="Courier New"/>
              </a:rPr>
              <a:t>o </a:t>
            </a:r>
            <a:r>
              <a:rPr b="1" lang="en"/>
              <a:t>AI-Powered Visa Predictions:</a:t>
            </a:r>
            <a:r>
              <a:rPr lang="en"/>
              <a:t> Personalized visa suggestions based on profile details.</a:t>
            </a:r>
            <a:endParaRPr/>
          </a:p>
          <a:p>
            <a:pPr indent="-228600" lvl="0" marL="914400" rtl="0" algn="just">
              <a:lnSpc>
                <a:spcPct val="150000"/>
              </a:lnSpc>
              <a:spcBef>
                <a:spcPts val="500"/>
              </a:spcBef>
              <a:spcAft>
                <a:spcPts val="0"/>
              </a:spcAft>
              <a:buClr>
                <a:schemeClr val="dk2"/>
              </a:buClr>
              <a:buSzPts val="1100"/>
              <a:buFont typeface="Arial"/>
              <a:buNone/>
            </a:pPr>
            <a:r>
              <a:rPr b="1" lang="en" sz="1200">
                <a:latin typeface="Courier New"/>
                <a:ea typeface="Courier New"/>
                <a:cs typeface="Courier New"/>
                <a:sym typeface="Courier New"/>
              </a:rPr>
              <a:t>o </a:t>
            </a:r>
            <a:r>
              <a:rPr b="1" lang="en"/>
              <a:t>Interview Preparation:</a:t>
            </a:r>
            <a:r>
              <a:rPr lang="en"/>
              <a:t> Tailored interview questions using NLP.</a:t>
            </a:r>
            <a:endParaRPr/>
          </a:p>
          <a:p>
            <a:pPr indent="-228600" lvl="0" marL="914400" rtl="0" algn="just">
              <a:lnSpc>
                <a:spcPct val="150000"/>
              </a:lnSpc>
              <a:spcBef>
                <a:spcPts val="500"/>
              </a:spcBef>
              <a:spcAft>
                <a:spcPts val="0"/>
              </a:spcAft>
              <a:buClr>
                <a:schemeClr val="dk2"/>
              </a:buClr>
              <a:buSzPts val="1100"/>
              <a:buFont typeface="Arial"/>
              <a:buNone/>
            </a:pPr>
            <a:r>
              <a:rPr b="1" lang="en" sz="1200">
                <a:latin typeface="Courier New"/>
                <a:ea typeface="Courier New"/>
                <a:cs typeface="Courier New"/>
                <a:sym typeface="Courier New"/>
              </a:rPr>
              <a:t>o </a:t>
            </a:r>
            <a:r>
              <a:rPr b="1" lang="en"/>
              <a:t>Application Strategy:</a:t>
            </a:r>
            <a:r>
              <a:rPr lang="en"/>
              <a:t> Guidance on the entire visa process, including documents, costs, and steps.</a:t>
            </a:r>
            <a:endParaRPr/>
          </a:p>
          <a:p>
            <a:pPr indent="-228600" lvl="0" marL="914400" rtl="0" algn="just">
              <a:lnSpc>
                <a:spcPct val="150000"/>
              </a:lnSpc>
              <a:spcBef>
                <a:spcPts val="500"/>
              </a:spcBef>
              <a:spcAft>
                <a:spcPts val="0"/>
              </a:spcAft>
              <a:buClr>
                <a:schemeClr val="dk2"/>
              </a:buClr>
              <a:buSzPts val="1100"/>
              <a:buFont typeface="Arial"/>
              <a:buNone/>
            </a:pPr>
            <a:r>
              <a:rPr b="1" lang="en" sz="1200">
                <a:latin typeface="Courier New"/>
                <a:ea typeface="Courier New"/>
                <a:cs typeface="Courier New"/>
                <a:sym typeface="Courier New"/>
              </a:rPr>
              <a:t>o </a:t>
            </a:r>
            <a:r>
              <a:rPr b="1" lang="en"/>
              <a:t>Community Forum:</a:t>
            </a:r>
            <a:r>
              <a:rPr lang="en"/>
              <a:t> Allows users to share experiences and ask questions.</a:t>
            </a:r>
            <a:endParaRPr/>
          </a:p>
          <a:p>
            <a:pPr indent="0" lvl="0" marL="0" rtl="0" algn="l">
              <a:lnSpc>
                <a:spcPct val="150000"/>
              </a:lnSpc>
              <a:spcBef>
                <a:spcPts val="50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99875" y="0"/>
            <a:ext cx="4045200" cy="124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2400">
                <a:solidFill>
                  <a:schemeClr val="dk2"/>
                </a:solidFill>
              </a:rPr>
              <a:t> </a:t>
            </a:r>
            <a:r>
              <a:rPr lang="en"/>
              <a:t>Related work :</a:t>
            </a:r>
            <a:endParaRPr b="0" sz="2400">
              <a:solidFill>
                <a:schemeClr val="dk2"/>
              </a:solidFill>
            </a:endParaRPr>
          </a:p>
        </p:txBody>
      </p:sp>
      <p:pic>
        <p:nvPicPr>
          <p:cNvPr id="104" name="Google Shape;104;p18"/>
          <p:cNvPicPr preferRelativeResize="0"/>
          <p:nvPr/>
        </p:nvPicPr>
        <p:blipFill rotWithShape="1">
          <a:blip r:embed="rId3">
            <a:alphaModFix/>
          </a:blip>
          <a:srcRect b="0" l="0" r="39660" t="0"/>
          <a:stretch/>
        </p:blipFill>
        <p:spPr>
          <a:xfrm>
            <a:off x="4488725" y="0"/>
            <a:ext cx="4655273" cy="5143501"/>
          </a:xfrm>
          <a:prstGeom prst="rect">
            <a:avLst/>
          </a:prstGeom>
          <a:noFill/>
          <a:ln>
            <a:noFill/>
          </a:ln>
        </p:spPr>
      </p:pic>
      <p:grpSp>
        <p:nvGrpSpPr>
          <p:cNvPr id="105" name="Google Shape;105;p18"/>
          <p:cNvGrpSpPr/>
          <p:nvPr/>
        </p:nvGrpSpPr>
        <p:grpSpPr>
          <a:xfrm>
            <a:off x="4746462" y="2496107"/>
            <a:ext cx="4247136" cy="2504994"/>
            <a:chOff x="6803275" y="427445"/>
            <a:chExt cx="2212050" cy="2504994"/>
          </a:xfrm>
        </p:grpSpPr>
        <p:pic>
          <p:nvPicPr>
            <p:cNvPr id="106" name="Google Shape;106;p18"/>
            <p:cNvPicPr preferRelativeResize="0"/>
            <p:nvPr/>
          </p:nvPicPr>
          <p:blipFill>
            <a:blip r:embed="rId4">
              <a:alphaModFix/>
            </a:blip>
            <a:stretch>
              <a:fillRect/>
            </a:stretch>
          </p:blipFill>
          <p:spPr>
            <a:xfrm>
              <a:off x="6803275" y="427445"/>
              <a:ext cx="2212050" cy="2504994"/>
            </a:xfrm>
            <a:prstGeom prst="rect">
              <a:avLst/>
            </a:prstGeom>
            <a:noFill/>
            <a:ln>
              <a:noFill/>
            </a:ln>
          </p:spPr>
        </p:pic>
        <p:sp>
          <p:nvSpPr>
            <p:cNvPr id="107" name="Google Shape;107;p18"/>
            <p:cNvSpPr txBox="1"/>
            <p:nvPr/>
          </p:nvSpPr>
          <p:spPr>
            <a:xfrm>
              <a:off x="6916849" y="907913"/>
              <a:ext cx="1929000" cy="17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AA84F"/>
                  </a:solidFill>
                </a:rPr>
                <a:t>Our </a:t>
              </a:r>
              <a:r>
                <a:rPr lang="en">
                  <a:solidFill>
                    <a:srgbClr val="6AA84F"/>
                  </a:solidFill>
                </a:rPr>
                <a:t>AI-based visa predictor offers personalized recommendations and approval predictions, unlike static info from competitors. It enhances success with interview prep, cost estimates, and covers multiple countries, setting it apart from region-specific platforms.</a:t>
              </a:r>
              <a:endParaRPr>
                <a:solidFill>
                  <a:srgbClr val="6AA84F"/>
                </a:solidFill>
              </a:endParaRPr>
            </a:p>
          </p:txBody>
        </p:sp>
      </p:grpSp>
      <p:sp>
        <p:nvSpPr>
          <p:cNvPr id="108" name="Google Shape;108;p18"/>
          <p:cNvSpPr txBox="1"/>
          <p:nvPr/>
        </p:nvSpPr>
        <p:spPr>
          <a:xfrm>
            <a:off x="295925" y="1137700"/>
            <a:ext cx="3934200" cy="3153600"/>
          </a:xfrm>
          <a:prstGeom prst="rect">
            <a:avLst/>
          </a:prstGeom>
          <a:no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sz="1800">
              <a:solidFill>
                <a:schemeClr val="dk2"/>
              </a:solidFill>
              <a:latin typeface="Lato"/>
              <a:ea typeface="Lato"/>
              <a:cs typeface="Lato"/>
              <a:sym typeface="Lato"/>
            </a:endParaRPr>
          </a:p>
          <a:p>
            <a:pPr indent="-317500" lvl="1" marL="914400" rtl="0" algn="just">
              <a:lnSpc>
                <a:spcPct val="115000"/>
              </a:lnSpc>
              <a:spcBef>
                <a:spcPts val="500"/>
              </a:spcBef>
              <a:spcAft>
                <a:spcPts val="0"/>
              </a:spcAft>
              <a:buClr>
                <a:schemeClr val="dk2"/>
              </a:buClr>
              <a:buSzPts val="1400"/>
              <a:buChar char="○"/>
            </a:pPr>
            <a:r>
              <a:rPr b="1" lang="en" sz="1000">
                <a:solidFill>
                  <a:schemeClr val="dk2"/>
                </a:solidFill>
              </a:rPr>
              <a:t> </a:t>
            </a:r>
            <a:r>
              <a:rPr b="1" lang="en" sz="1200">
                <a:solidFill>
                  <a:schemeClr val="dk2"/>
                </a:solidFill>
              </a:rPr>
              <a:t>Visabot:</a:t>
            </a:r>
            <a:r>
              <a:rPr lang="en" sz="1200">
                <a:solidFill>
                  <a:schemeClr val="dk2"/>
                </a:solidFill>
              </a:rPr>
              <a:t> Focuses only on U.S. immigration, lacks broader visa recommendations or AI-based predictions.</a:t>
            </a:r>
            <a:r>
              <a:rPr lang="en" sz="1200">
                <a:solidFill>
                  <a:schemeClr val="dk2"/>
                </a:solidFill>
              </a:rPr>
              <a:t> </a:t>
            </a:r>
            <a:endParaRPr sz="1200">
              <a:solidFill>
                <a:schemeClr val="dk2"/>
              </a:solidFill>
            </a:endParaRPr>
          </a:p>
          <a:p>
            <a:pPr indent="0" lvl="0" marL="914400" rtl="0" algn="just">
              <a:lnSpc>
                <a:spcPct val="115000"/>
              </a:lnSpc>
              <a:spcBef>
                <a:spcPts val="500"/>
              </a:spcBef>
              <a:spcAft>
                <a:spcPts val="0"/>
              </a:spcAft>
              <a:buNone/>
            </a:pPr>
            <a:r>
              <a:rPr lang="en" sz="1200" u="sng">
                <a:solidFill>
                  <a:schemeClr val="hlink"/>
                </a:solidFill>
                <a:hlinkClick r:id="rId5"/>
              </a:rPr>
              <a:t>https://pitchbook.com/profiles/company/170398-36#overview</a:t>
            </a:r>
            <a:r>
              <a:rPr lang="en" sz="1200">
                <a:solidFill>
                  <a:schemeClr val="dk2"/>
                </a:solidFill>
              </a:rPr>
              <a:t> </a:t>
            </a:r>
            <a:endParaRPr sz="1200">
              <a:solidFill>
                <a:schemeClr val="dk2"/>
              </a:solidFill>
            </a:endParaRPr>
          </a:p>
          <a:p>
            <a:pPr indent="-304800" lvl="1" marL="914400" rtl="0" algn="just">
              <a:lnSpc>
                <a:spcPct val="115000"/>
              </a:lnSpc>
              <a:spcBef>
                <a:spcPts val="500"/>
              </a:spcBef>
              <a:spcAft>
                <a:spcPts val="0"/>
              </a:spcAft>
              <a:buClr>
                <a:schemeClr val="dk2"/>
              </a:buClr>
              <a:buSzPts val="1200"/>
              <a:buChar char="○"/>
            </a:pPr>
            <a:r>
              <a:rPr b="1" lang="en" sz="1200">
                <a:solidFill>
                  <a:schemeClr val="dk2"/>
                </a:solidFill>
              </a:rPr>
              <a:t>myVisa.io:</a:t>
            </a:r>
            <a:r>
              <a:rPr lang="en" sz="1200">
                <a:solidFill>
                  <a:schemeClr val="dk2"/>
                </a:solidFill>
              </a:rPr>
              <a:t> Static info and human consultants, no AI-driven analysis or personalized strategies.</a:t>
            </a:r>
            <a:endParaRPr sz="1200">
              <a:solidFill>
                <a:schemeClr val="dk2"/>
              </a:solidFill>
            </a:endParaRPr>
          </a:p>
          <a:p>
            <a:pPr indent="0" lvl="0" marL="914400" rtl="0" algn="just">
              <a:lnSpc>
                <a:spcPct val="115000"/>
              </a:lnSpc>
              <a:spcBef>
                <a:spcPts val="500"/>
              </a:spcBef>
              <a:spcAft>
                <a:spcPts val="0"/>
              </a:spcAft>
              <a:buNone/>
            </a:pPr>
            <a:r>
              <a:rPr lang="en" sz="1200" u="sng">
                <a:solidFill>
                  <a:schemeClr val="hlink"/>
                </a:solidFill>
                <a:hlinkClick r:id="rId6"/>
              </a:rPr>
              <a:t>https://myvisa.io</a:t>
            </a:r>
            <a:endParaRPr sz="1200">
              <a:solidFill>
                <a:schemeClr val="dk2"/>
              </a:solidFill>
            </a:endParaRPr>
          </a:p>
          <a:p>
            <a:pPr indent="-304800" lvl="1" marL="914400" rtl="0" algn="just">
              <a:lnSpc>
                <a:spcPct val="115000"/>
              </a:lnSpc>
              <a:spcBef>
                <a:spcPts val="500"/>
              </a:spcBef>
              <a:spcAft>
                <a:spcPts val="0"/>
              </a:spcAft>
              <a:buClr>
                <a:schemeClr val="dk2"/>
              </a:buClr>
              <a:buSzPts val="1200"/>
              <a:buChar char="○"/>
            </a:pPr>
            <a:r>
              <a:rPr b="1" lang="en" sz="1200">
                <a:solidFill>
                  <a:schemeClr val="dk2"/>
                </a:solidFill>
              </a:rPr>
              <a:t>V</a:t>
            </a:r>
            <a:r>
              <a:rPr b="1" lang="en" sz="1200">
                <a:solidFill>
                  <a:schemeClr val="dk2"/>
                </a:solidFill>
              </a:rPr>
              <a:t>isaHQ:</a:t>
            </a:r>
            <a:r>
              <a:rPr lang="en" sz="1200">
                <a:solidFill>
                  <a:schemeClr val="dk2"/>
                </a:solidFill>
              </a:rPr>
              <a:t> Provides general visa info but lacks AI-driven guidance and approval prediction.</a:t>
            </a:r>
            <a:endParaRPr sz="1200">
              <a:solidFill>
                <a:schemeClr val="dk2"/>
              </a:solidFill>
            </a:endParaRPr>
          </a:p>
          <a:p>
            <a:pPr indent="0" lvl="0" marL="914400" rtl="0" algn="just">
              <a:lnSpc>
                <a:spcPct val="115000"/>
              </a:lnSpc>
              <a:spcBef>
                <a:spcPts val="500"/>
              </a:spcBef>
              <a:spcAft>
                <a:spcPts val="0"/>
              </a:spcAft>
              <a:buNone/>
            </a:pPr>
            <a:r>
              <a:rPr lang="en" sz="1100" u="sng">
                <a:solidFill>
                  <a:schemeClr val="hlink"/>
                </a:solidFill>
                <a:hlinkClick r:id="rId7"/>
              </a:rPr>
              <a:t>VisaHQ</a:t>
            </a:r>
            <a:endParaRPr sz="1200">
              <a:solidFill>
                <a:schemeClr val="dk2"/>
              </a:solidFill>
            </a:endParaRPr>
          </a:p>
          <a:p>
            <a:pPr indent="0" lvl="0" marL="457200" rtl="0" algn="l">
              <a:spcBef>
                <a:spcPts val="500"/>
              </a:spcBef>
              <a:spcAft>
                <a:spcPts val="0"/>
              </a:spcAft>
              <a:buNone/>
            </a:pPr>
            <a:r>
              <a:t/>
            </a:r>
            <a:endParaRPr sz="1800">
              <a:solidFill>
                <a:schemeClr val="dk2"/>
              </a:solidFill>
              <a:latin typeface="Lato"/>
              <a:ea typeface="Lato"/>
              <a:cs typeface="Lato"/>
              <a:sym typeface="Lato"/>
            </a:endParaRPr>
          </a:p>
        </p:txBody>
      </p:sp>
      <p:sp>
        <p:nvSpPr>
          <p:cNvPr id="109" name="Google Shape;109;p18"/>
          <p:cNvSpPr txBox="1"/>
          <p:nvPr/>
        </p:nvSpPr>
        <p:spPr>
          <a:xfrm>
            <a:off x="5218900" y="2678900"/>
            <a:ext cx="2099400" cy="2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Lato"/>
                <a:ea typeface="Lato"/>
                <a:cs typeface="Lato"/>
                <a:sym typeface="Lato"/>
              </a:rPr>
              <a:t>Uniqueness :</a:t>
            </a:r>
            <a:endParaRPr sz="1800">
              <a:solidFill>
                <a:schemeClr val="dk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pic>
        <p:nvPicPr>
          <p:cNvPr id="114" name="Google Shape;114;p19"/>
          <p:cNvPicPr preferRelativeResize="0"/>
          <p:nvPr/>
        </p:nvPicPr>
        <p:blipFill rotWithShape="1">
          <a:blip r:embed="rId3">
            <a:alphaModFix/>
          </a:blip>
          <a:srcRect b="0" l="5602" r="5602" t="0"/>
          <a:stretch/>
        </p:blipFill>
        <p:spPr>
          <a:xfrm>
            <a:off x="-1" y="0"/>
            <a:ext cx="4567200" cy="5143499"/>
          </a:xfrm>
          <a:prstGeom prst="rect">
            <a:avLst/>
          </a:prstGeom>
          <a:noFill/>
          <a:ln>
            <a:noFill/>
          </a:ln>
        </p:spPr>
      </p:pic>
      <p:sp>
        <p:nvSpPr>
          <p:cNvPr id="115" name="Google Shape;115;p19"/>
          <p:cNvSpPr txBox="1"/>
          <p:nvPr>
            <p:ph idx="1" type="body"/>
          </p:nvPr>
        </p:nvSpPr>
        <p:spPr>
          <a:xfrm>
            <a:off x="4832750" y="980400"/>
            <a:ext cx="4033800" cy="3182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3000">
                <a:solidFill>
                  <a:schemeClr val="dk1"/>
                </a:solidFill>
              </a:rPr>
              <a:t>Data Collection:</a:t>
            </a:r>
            <a:endParaRPr sz="3000">
              <a:solidFill>
                <a:schemeClr val="dk1"/>
              </a:solidFill>
            </a:endParaRPr>
          </a:p>
          <a:p>
            <a:pPr indent="-228600" lvl="0" marL="457200" rtl="0" algn="l">
              <a:lnSpc>
                <a:spcPct val="150000"/>
              </a:lnSpc>
              <a:spcBef>
                <a:spcPts val="1600"/>
              </a:spcBef>
              <a:spcAft>
                <a:spcPts val="0"/>
              </a:spcAft>
              <a:buClr>
                <a:schemeClr val="dk2"/>
              </a:buClr>
              <a:buSzPts val="1100"/>
              <a:buFont typeface="Arial"/>
              <a:buNone/>
            </a:pPr>
            <a:r>
              <a:rPr b="1" lang="en" sz="1100">
                <a:latin typeface="Arial"/>
                <a:ea typeface="Arial"/>
                <a:cs typeface="Arial"/>
                <a:sym typeface="Arial"/>
              </a:rPr>
              <a:t> </a:t>
            </a:r>
            <a:r>
              <a:rPr b="1" lang="en" sz="1300">
                <a:latin typeface="Arial"/>
                <a:ea typeface="Arial"/>
                <a:cs typeface="Arial"/>
                <a:sym typeface="Arial"/>
              </a:rPr>
              <a:t>Sources of Data:</a:t>
            </a:r>
            <a:endParaRPr b="1" sz="1300">
              <a:latin typeface="Arial"/>
              <a:ea typeface="Arial"/>
              <a:cs typeface="Arial"/>
              <a:sym typeface="Arial"/>
            </a:endParaRPr>
          </a:p>
          <a:p>
            <a:pPr indent="-228600" lvl="0" marL="914400" rtl="0" algn="l">
              <a:lnSpc>
                <a:spcPct val="150000"/>
              </a:lnSpc>
              <a:spcBef>
                <a:spcPts val="500"/>
              </a:spcBef>
              <a:spcAft>
                <a:spcPts val="0"/>
              </a:spcAft>
              <a:buClr>
                <a:schemeClr val="dk2"/>
              </a:buClr>
              <a:buSzPts val="1100"/>
              <a:buFont typeface="Arial"/>
              <a:buNone/>
            </a:pPr>
            <a:r>
              <a:rPr lang="en" sz="1100">
                <a:latin typeface="Courier New"/>
                <a:ea typeface="Courier New"/>
                <a:cs typeface="Courier New"/>
                <a:sym typeface="Courier New"/>
              </a:rPr>
              <a:t>o </a:t>
            </a:r>
            <a:r>
              <a:rPr lang="en" sz="1300">
                <a:latin typeface="Arial"/>
                <a:ea typeface="Arial"/>
                <a:cs typeface="Arial"/>
                <a:sym typeface="Arial"/>
              </a:rPr>
              <a:t>Immigration policies, country-specific visa requirements, university data.</a:t>
            </a:r>
            <a:endParaRPr sz="1300">
              <a:latin typeface="Arial"/>
              <a:ea typeface="Arial"/>
              <a:cs typeface="Arial"/>
              <a:sym typeface="Arial"/>
            </a:endParaRPr>
          </a:p>
          <a:p>
            <a:pPr indent="-228600" lvl="0" marL="914400" rtl="0" algn="l">
              <a:lnSpc>
                <a:spcPct val="150000"/>
              </a:lnSpc>
              <a:spcBef>
                <a:spcPts val="500"/>
              </a:spcBef>
              <a:spcAft>
                <a:spcPts val="0"/>
              </a:spcAft>
              <a:buClr>
                <a:schemeClr val="dk2"/>
              </a:buClr>
              <a:buSzPts val="1100"/>
              <a:buFont typeface="Arial"/>
              <a:buNone/>
            </a:pPr>
            <a:r>
              <a:rPr lang="en" sz="1100">
                <a:latin typeface="Courier New"/>
                <a:ea typeface="Courier New"/>
                <a:cs typeface="Courier New"/>
                <a:sym typeface="Courier New"/>
              </a:rPr>
              <a:t>o </a:t>
            </a:r>
            <a:r>
              <a:rPr lang="en" sz="1300">
                <a:latin typeface="Arial"/>
                <a:ea typeface="Arial"/>
                <a:cs typeface="Arial"/>
                <a:sym typeface="Arial"/>
              </a:rPr>
              <a:t>Personal profile data (education, work history, income).</a:t>
            </a:r>
            <a:endParaRPr sz="1300">
              <a:latin typeface="Arial"/>
              <a:ea typeface="Arial"/>
              <a:cs typeface="Arial"/>
              <a:sym typeface="Arial"/>
            </a:endParaRPr>
          </a:p>
          <a:p>
            <a:pPr indent="-228600" lvl="0" marL="914400" rtl="0" algn="l">
              <a:lnSpc>
                <a:spcPct val="150000"/>
              </a:lnSpc>
              <a:spcBef>
                <a:spcPts val="500"/>
              </a:spcBef>
              <a:spcAft>
                <a:spcPts val="0"/>
              </a:spcAft>
              <a:buClr>
                <a:schemeClr val="dk2"/>
              </a:buClr>
              <a:buSzPts val="1100"/>
              <a:buFont typeface="Arial"/>
              <a:buNone/>
            </a:pPr>
            <a:r>
              <a:rPr lang="en" sz="1100">
                <a:latin typeface="Courier New"/>
                <a:ea typeface="Courier New"/>
                <a:cs typeface="Courier New"/>
                <a:sym typeface="Courier New"/>
              </a:rPr>
              <a:t>o </a:t>
            </a:r>
            <a:r>
              <a:rPr lang="en" sz="1300">
                <a:latin typeface="Arial"/>
                <a:ea typeface="Arial"/>
                <a:cs typeface="Arial"/>
                <a:sym typeface="Arial"/>
              </a:rPr>
              <a:t>Real-time updates to keep recommendations accurate and current.</a:t>
            </a:r>
            <a:endParaRPr sz="1300">
              <a:latin typeface="Arial"/>
              <a:ea typeface="Arial"/>
              <a:cs typeface="Arial"/>
              <a:sym typeface="Arial"/>
            </a:endParaRPr>
          </a:p>
          <a:p>
            <a:pPr indent="0" lvl="0" marL="0" rtl="0" algn="l">
              <a:lnSpc>
                <a:spcPct val="150000"/>
              </a:lnSpc>
              <a:spcBef>
                <a:spcPts val="500"/>
              </a:spcBef>
              <a:spcAft>
                <a:spcPts val="1600"/>
              </a:spcAft>
              <a:buClr>
                <a:schemeClr val="dk2"/>
              </a:buClr>
              <a:buSzPts val="1100"/>
              <a:buFont typeface="Arial"/>
              <a:buNone/>
            </a:pPr>
            <a:r>
              <a:t/>
            </a:r>
            <a:endParaRPr sz="18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0"/>
          <p:cNvSpPr txBox="1"/>
          <p:nvPr>
            <p:ph idx="1" type="subTitle"/>
          </p:nvPr>
        </p:nvSpPr>
        <p:spPr>
          <a:xfrm>
            <a:off x="265500" y="653700"/>
            <a:ext cx="4045200" cy="3836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3000">
                <a:solidFill>
                  <a:schemeClr val="dk1"/>
                </a:solidFill>
              </a:rPr>
              <a:t>How we achieve?</a:t>
            </a:r>
            <a:endParaRPr b="1" sz="1200">
              <a:latin typeface="SimSun"/>
              <a:ea typeface="SimSun"/>
              <a:cs typeface="SimSun"/>
              <a:sym typeface="SimSun"/>
            </a:endParaRPr>
          </a:p>
          <a:p>
            <a:pPr indent="-228600" lvl="0" marL="457200" rtl="0" algn="just">
              <a:lnSpc>
                <a:spcPct val="115000"/>
              </a:lnSpc>
              <a:spcBef>
                <a:spcPts val="1600"/>
              </a:spcBef>
              <a:spcAft>
                <a:spcPts val="0"/>
              </a:spcAft>
              <a:buNone/>
            </a:pPr>
            <a:r>
              <a:rPr b="1" lang="en" sz="1000">
                <a:latin typeface="Arial"/>
                <a:ea typeface="Arial"/>
                <a:cs typeface="Arial"/>
                <a:sym typeface="Arial"/>
              </a:rPr>
              <a:t>· </a:t>
            </a:r>
            <a:r>
              <a:rPr b="1" lang="en" sz="1200">
                <a:latin typeface="Arial"/>
                <a:ea typeface="Arial"/>
                <a:cs typeface="Arial"/>
                <a:sym typeface="Arial"/>
              </a:rPr>
              <a:t>Front-End Development:</a:t>
            </a:r>
            <a:endParaRPr b="1" sz="1200">
              <a:latin typeface="Arial"/>
              <a:ea typeface="Arial"/>
              <a:cs typeface="Arial"/>
              <a:sym typeface="Arial"/>
            </a:endParaRPr>
          </a:p>
          <a:p>
            <a:pPr indent="-228600" lvl="0" marL="914400" rtl="0" algn="just">
              <a:lnSpc>
                <a:spcPct val="115000"/>
              </a:lnSpc>
              <a:spcBef>
                <a:spcPts val="500"/>
              </a:spcBef>
              <a:spcAft>
                <a:spcPts val="0"/>
              </a:spcAft>
              <a:buClr>
                <a:schemeClr val="dk2"/>
              </a:buClr>
              <a:buSzPts val="1100"/>
              <a:buFont typeface="Arial"/>
              <a:buNone/>
            </a:pPr>
            <a:r>
              <a:rPr lang="en" sz="1000">
                <a:latin typeface="Courier New"/>
                <a:ea typeface="Courier New"/>
                <a:cs typeface="Courier New"/>
                <a:sym typeface="Courier New"/>
              </a:rPr>
              <a:t>o </a:t>
            </a:r>
            <a:r>
              <a:rPr lang="en" sz="1200">
                <a:latin typeface="Arial"/>
                <a:ea typeface="Arial"/>
                <a:cs typeface="Arial"/>
                <a:sym typeface="Arial"/>
              </a:rPr>
              <a:t>HTML, CSS, JavaScript to create a user-friendly interface.</a:t>
            </a:r>
            <a:endParaRPr sz="1200">
              <a:latin typeface="Arial"/>
              <a:ea typeface="Arial"/>
              <a:cs typeface="Arial"/>
              <a:sym typeface="Arial"/>
            </a:endParaRPr>
          </a:p>
          <a:p>
            <a:pPr indent="-228600" lvl="0" marL="457200" rtl="0" algn="just">
              <a:lnSpc>
                <a:spcPct val="115000"/>
              </a:lnSpc>
              <a:spcBef>
                <a:spcPts val="500"/>
              </a:spcBef>
              <a:spcAft>
                <a:spcPts val="0"/>
              </a:spcAft>
              <a:buClr>
                <a:schemeClr val="dk2"/>
              </a:buClr>
              <a:buSzPts val="1100"/>
              <a:buFont typeface="Arial"/>
              <a:buNone/>
            </a:pPr>
            <a:r>
              <a:rPr b="1" lang="en" sz="1000">
                <a:latin typeface="Arial"/>
                <a:ea typeface="Arial"/>
                <a:cs typeface="Arial"/>
                <a:sym typeface="Arial"/>
              </a:rPr>
              <a:t>·</a:t>
            </a:r>
            <a:r>
              <a:rPr b="1" lang="en" sz="1000">
                <a:latin typeface="Arial"/>
                <a:ea typeface="Arial"/>
                <a:cs typeface="Arial"/>
                <a:sym typeface="Arial"/>
              </a:rPr>
              <a:t> </a:t>
            </a:r>
            <a:r>
              <a:rPr b="1" lang="en" sz="1200">
                <a:latin typeface="Arial"/>
                <a:ea typeface="Arial"/>
                <a:cs typeface="Arial"/>
                <a:sym typeface="Arial"/>
              </a:rPr>
              <a:t>Back-End Development:</a:t>
            </a:r>
            <a:endParaRPr b="1" sz="1200">
              <a:latin typeface="Arial"/>
              <a:ea typeface="Arial"/>
              <a:cs typeface="Arial"/>
              <a:sym typeface="Arial"/>
            </a:endParaRPr>
          </a:p>
          <a:p>
            <a:pPr indent="-228600" lvl="0" marL="914400" rtl="0" algn="just">
              <a:lnSpc>
                <a:spcPct val="115000"/>
              </a:lnSpc>
              <a:spcBef>
                <a:spcPts val="500"/>
              </a:spcBef>
              <a:spcAft>
                <a:spcPts val="0"/>
              </a:spcAft>
              <a:buClr>
                <a:schemeClr val="dk2"/>
              </a:buClr>
              <a:buSzPts val="1100"/>
              <a:buFont typeface="Arial"/>
              <a:buNone/>
            </a:pPr>
            <a:r>
              <a:rPr lang="en" sz="1000">
                <a:latin typeface="Courier New"/>
                <a:ea typeface="Courier New"/>
                <a:cs typeface="Courier New"/>
                <a:sym typeface="Courier New"/>
              </a:rPr>
              <a:t>o </a:t>
            </a:r>
            <a:r>
              <a:rPr lang="en" sz="1200">
                <a:latin typeface="Arial"/>
                <a:ea typeface="Arial"/>
                <a:cs typeface="Arial"/>
                <a:sym typeface="Arial"/>
              </a:rPr>
              <a:t>Python for AI, PHP/Laravel for server-side tasks.</a:t>
            </a:r>
            <a:endParaRPr sz="1200">
              <a:latin typeface="Arial"/>
              <a:ea typeface="Arial"/>
              <a:cs typeface="Arial"/>
              <a:sym typeface="Arial"/>
            </a:endParaRPr>
          </a:p>
          <a:p>
            <a:pPr indent="-228600" lvl="0" marL="457200" rtl="0" algn="just">
              <a:lnSpc>
                <a:spcPct val="115000"/>
              </a:lnSpc>
              <a:spcBef>
                <a:spcPts val="500"/>
              </a:spcBef>
              <a:spcAft>
                <a:spcPts val="0"/>
              </a:spcAft>
              <a:buClr>
                <a:schemeClr val="dk2"/>
              </a:buClr>
              <a:buSzPts val="1100"/>
              <a:buFont typeface="Arial"/>
              <a:buNone/>
            </a:pPr>
            <a:r>
              <a:rPr b="1" lang="en" sz="1000">
                <a:latin typeface="Arial"/>
                <a:ea typeface="Arial"/>
                <a:cs typeface="Arial"/>
                <a:sym typeface="Arial"/>
              </a:rPr>
              <a:t>· </a:t>
            </a:r>
            <a:r>
              <a:rPr b="1" lang="en" sz="1200">
                <a:latin typeface="Arial"/>
                <a:ea typeface="Arial"/>
                <a:cs typeface="Arial"/>
                <a:sym typeface="Arial"/>
              </a:rPr>
              <a:t>Database:</a:t>
            </a:r>
            <a:endParaRPr b="1" sz="1200">
              <a:latin typeface="Arial"/>
              <a:ea typeface="Arial"/>
              <a:cs typeface="Arial"/>
              <a:sym typeface="Arial"/>
            </a:endParaRPr>
          </a:p>
          <a:p>
            <a:pPr indent="-228600" lvl="0" marL="914400" rtl="0" algn="just">
              <a:lnSpc>
                <a:spcPct val="150000"/>
              </a:lnSpc>
              <a:spcBef>
                <a:spcPts val="500"/>
              </a:spcBef>
              <a:spcAft>
                <a:spcPts val="0"/>
              </a:spcAft>
              <a:buClr>
                <a:schemeClr val="dk2"/>
              </a:buClr>
              <a:buSzPts val="1100"/>
              <a:buFont typeface="Arial"/>
              <a:buNone/>
            </a:pPr>
            <a:r>
              <a:rPr lang="en" sz="1000">
                <a:latin typeface="Courier New"/>
                <a:ea typeface="Courier New"/>
                <a:cs typeface="Courier New"/>
                <a:sym typeface="Courier New"/>
              </a:rPr>
              <a:t>o </a:t>
            </a:r>
            <a:r>
              <a:rPr lang="en" sz="1200">
                <a:latin typeface="Arial"/>
                <a:ea typeface="Arial"/>
                <a:cs typeface="Arial"/>
                <a:sym typeface="Arial"/>
              </a:rPr>
              <a:t>MongoDB for user profiles and visa-related data storage.</a:t>
            </a:r>
            <a:endParaRPr sz="1200">
              <a:latin typeface="Arial"/>
              <a:ea typeface="Arial"/>
              <a:cs typeface="Arial"/>
              <a:sym typeface="Arial"/>
            </a:endParaRPr>
          </a:p>
          <a:p>
            <a:pPr indent="0" lvl="0" marL="0" rtl="0" algn="l">
              <a:lnSpc>
                <a:spcPct val="115000"/>
              </a:lnSpc>
              <a:spcBef>
                <a:spcPts val="500"/>
              </a:spcBef>
              <a:spcAft>
                <a:spcPts val="1600"/>
              </a:spcAft>
              <a:buNone/>
            </a:pPr>
            <a:r>
              <a:t/>
            </a:r>
            <a:endParaRPr sz="1800"/>
          </a:p>
        </p:txBody>
      </p:sp>
      <p:pic>
        <p:nvPicPr>
          <p:cNvPr id="121" name="Google Shape;121;p20"/>
          <p:cNvPicPr preferRelativeResize="0"/>
          <p:nvPr/>
        </p:nvPicPr>
        <p:blipFill rotWithShape="1">
          <a:blip r:embed="rId3">
            <a:alphaModFix/>
          </a:blip>
          <a:srcRect b="0" l="21274" r="21274" t="0"/>
          <a:stretch/>
        </p:blipFill>
        <p:spPr>
          <a:xfrm>
            <a:off x="4572000" y="0"/>
            <a:ext cx="4655272" cy="51435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nvSpPr>
        <p:spPr>
          <a:xfrm>
            <a:off x="556500" y="590250"/>
            <a:ext cx="7689900" cy="3777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2"/>
              </a:buClr>
              <a:buSzPts val="1100"/>
              <a:buFont typeface="Arial"/>
              <a:buNone/>
            </a:pPr>
            <a:r>
              <a:rPr b="1" lang="en" sz="2800">
                <a:solidFill>
                  <a:schemeClr val="accent5"/>
                </a:solidFill>
                <a:latin typeface="Lato"/>
                <a:ea typeface="Lato"/>
                <a:cs typeface="Lato"/>
                <a:sym typeface="Lato"/>
              </a:rPr>
              <a:t>AI development steps:</a:t>
            </a:r>
            <a:endParaRPr b="1" sz="2800">
              <a:solidFill>
                <a:schemeClr val="accent5"/>
              </a:solidFill>
              <a:latin typeface="Lato"/>
              <a:ea typeface="Lato"/>
              <a:cs typeface="Lato"/>
              <a:sym typeface="Lato"/>
            </a:endParaRPr>
          </a:p>
          <a:p>
            <a:pPr indent="-228600" lvl="0" marL="457200" rtl="0" algn="l">
              <a:lnSpc>
                <a:spcPct val="150000"/>
              </a:lnSpc>
              <a:spcBef>
                <a:spcPts val="1600"/>
              </a:spcBef>
              <a:spcAft>
                <a:spcPts val="0"/>
              </a:spcAft>
              <a:buClr>
                <a:schemeClr val="dk2"/>
              </a:buClr>
              <a:buSzPts val="1100"/>
              <a:buFont typeface="Arial"/>
              <a:buNone/>
            </a:pPr>
            <a:r>
              <a:rPr b="1" lang="en" sz="1200"/>
              <a:t>1. Data Pre-processing:</a:t>
            </a:r>
            <a:r>
              <a:rPr lang="en" sz="1200"/>
              <a:t> Clean and format data for the model.</a:t>
            </a:r>
            <a:endParaRPr sz="1200"/>
          </a:p>
          <a:p>
            <a:pPr indent="-228600" lvl="0" marL="457200" rtl="0" algn="l">
              <a:lnSpc>
                <a:spcPct val="150000"/>
              </a:lnSpc>
              <a:spcBef>
                <a:spcPts val="500"/>
              </a:spcBef>
              <a:spcAft>
                <a:spcPts val="0"/>
              </a:spcAft>
              <a:buClr>
                <a:schemeClr val="dk2"/>
              </a:buClr>
              <a:buSzPts val="1100"/>
              <a:buFont typeface="Arial"/>
              <a:buNone/>
            </a:pPr>
            <a:r>
              <a:rPr b="1" lang="en" sz="1200"/>
              <a:t>2. Training the Model:</a:t>
            </a:r>
            <a:r>
              <a:rPr lang="en" sz="1200"/>
              <a:t> Supervised learning to predict visa eligibility.</a:t>
            </a:r>
            <a:endParaRPr sz="1200"/>
          </a:p>
          <a:p>
            <a:pPr indent="-228600" lvl="0" marL="457200" rtl="0" algn="l">
              <a:lnSpc>
                <a:spcPct val="150000"/>
              </a:lnSpc>
              <a:spcBef>
                <a:spcPts val="500"/>
              </a:spcBef>
              <a:spcAft>
                <a:spcPts val="0"/>
              </a:spcAft>
              <a:buClr>
                <a:schemeClr val="dk2"/>
              </a:buClr>
              <a:buSzPts val="1100"/>
              <a:buFont typeface="Arial"/>
              <a:buNone/>
            </a:pPr>
            <a:r>
              <a:rPr b="1" lang="en" sz="1200"/>
              <a:t>3. Visa Recommendations:</a:t>
            </a:r>
            <a:r>
              <a:rPr lang="en" sz="1200"/>
              <a:t> Personalized suggestions for countries, universities, and visa types.</a:t>
            </a:r>
            <a:endParaRPr sz="1200"/>
          </a:p>
          <a:p>
            <a:pPr indent="-228600" lvl="0" marL="457200" rtl="0" algn="l">
              <a:lnSpc>
                <a:spcPct val="150000"/>
              </a:lnSpc>
              <a:spcBef>
                <a:spcPts val="500"/>
              </a:spcBef>
              <a:spcAft>
                <a:spcPts val="0"/>
              </a:spcAft>
              <a:buClr>
                <a:schemeClr val="dk2"/>
              </a:buClr>
              <a:buSzPts val="1100"/>
              <a:buFont typeface="Arial"/>
              <a:buNone/>
            </a:pPr>
            <a:r>
              <a:rPr b="1" lang="en" sz="1200"/>
              <a:t>4. NLP for Interviews:</a:t>
            </a:r>
            <a:r>
              <a:rPr lang="en" sz="1200"/>
              <a:t> Tailored interview questions and prep.</a:t>
            </a:r>
            <a:endParaRPr sz="1200"/>
          </a:p>
          <a:p>
            <a:pPr indent="0" lvl="0" marL="0" rtl="0" algn="l">
              <a:lnSpc>
                <a:spcPct val="150000"/>
              </a:lnSpc>
              <a:spcBef>
                <a:spcPts val="500"/>
              </a:spcBef>
              <a:spcAft>
                <a:spcPts val="0"/>
              </a:spcAft>
              <a:buClr>
                <a:schemeClr val="dk2"/>
              </a:buClr>
              <a:buSzPts val="1100"/>
              <a:buFont typeface="Arial"/>
              <a:buNone/>
            </a:pPr>
            <a:r>
              <a:t/>
            </a:r>
            <a:endParaRPr b="1" sz="2800">
              <a:latin typeface="Lato"/>
              <a:ea typeface="Lato"/>
              <a:cs typeface="Lato"/>
              <a:sym typeface="Lato"/>
            </a:endParaRPr>
          </a:p>
          <a:p>
            <a:pPr indent="0" lvl="0" marL="0" rtl="0" algn="l">
              <a:spcBef>
                <a:spcPts val="160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22"/>
          <p:cNvSpPr txBox="1"/>
          <p:nvPr>
            <p:ph type="title"/>
          </p:nvPr>
        </p:nvSpPr>
        <p:spPr>
          <a:xfrm>
            <a:off x="283103" y="712141"/>
            <a:ext cx="6244200" cy="3835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4200">
                <a:solidFill>
                  <a:schemeClr val="accent5"/>
                </a:solidFill>
              </a:rPr>
              <a:t>Testing and Validat</a:t>
            </a:r>
            <a:r>
              <a:rPr lang="en" sz="4200">
                <a:solidFill>
                  <a:schemeClr val="accent5"/>
                </a:solidFill>
              </a:rPr>
              <a:t>ion:</a:t>
            </a:r>
            <a:endParaRPr sz="4200">
              <a:solidFill>
                <a:schemeClr val="accent5"/>
              </a:solidFill>
            </a:endParaRPr>
          </a:p>
          <a:p>
            <a:pPr indent="-228600" lvl="0" marL="457200" rtl="0" algn="l">
              <a:lnSpc>
                <a:spcPct val="150000"/>
              </a:lnSpc>
              <a:spcBef>
                <a:spcPts val="1000"/>
              </a:spcBef>
              <a:spcAft>
                <a:spcPts val="0"/>
              </a:spcAft>
              <a:buClr>
                <a:schemeClr val="dk2"/>
              </a:buClr>
              <a:buSzPts val="1100"/>
              <a:buFont typeface="Arial"/>
              <a:buNone/>
            </a:pPr>
            <a:r>
              <a:rPr lang="en" sz="1000">
                <a:solidFill>
                  <a:srgbClr val="000000"/>
                </a:solidFill>
                <a:latin typeface="Arial"/>
                <a:ea typeface="Arial"/>
                <a:cs typeface="Arial"/>
                <a:sym typeface="Arial"/>
              </a:rPr>
              <a:t>· </a:t>
            </a:r>
            <a:r>
              <a:rPr lang="en" sz="1200">
                <a:solidFill>
                  <a:srgbClr val="000000"/>
                </a:solidFill>
                <a:latin typeface="Arial"/>
                <a:ea typeface="Arial"/>
                <a:cs typeface="Arial"/>
                <a:sym typeface="Arial"/>
              </a:rPr>
              <a:t>Accuracy Testing:</a:t>
            </a:r>
            <a:r>
              <a:rPr b="0" lang="en" sz="1200">
                <a:solidFill>
                  <a:srgbClr val="000000"/>
                </a:solidFill>
                <a:latin typeface="Arial"/>
                <a:ea typeface="Arial"/>
                <a:cs typeface="Arial"/>
                <a:sym typeface="Arial"/>
              </a:rPr>
              <a:t> Ensure predictions are accurate using real visa data.</a:t>
            </a:r>
            <a:endParaRPr b="0" sz="1200">
              <a:solidFill>
                <a:srgbClr val="000000"/>
              </a:solidFill>
              <a:latin typeface="Arial"/>
              <a:ea typeface="Arial"/>
              <a:cs typeface="Arial"/>
              <a:sym typeface="Arial"/>
            </a:endParaRPr>
          </a:p>
          <a:p>
            <a:pPr indent="-228600" lvl="0" marL="457200" rtl="0" algn="l">
              <a:lnSpc>
                <a:spcPct val="150000"/>
              </a:lnSpc>
              <a:spcBef>
                <a:spcPts val="500"/>
              </a:spcBef>
              <a:spcAft>
                <a:spcPts val="0"/>
              </a:spcAft>
              <a:buClr>
                <a:schemeClr val="dk2"/>
              </a:buClr>
              <a:buSzPts val="1100"/>
              <a:buFont typeface="Arial"/>
              <a:buNone/>
            </a:pPr>
            <a:r>
              <a:rPr lang="en" sz="1000">
                <a:solidFill>
                  <a:srgbClr val="000000"/>
                </a:solidFill>
                <a:latin typeface="Arial"/>
                <a:ea typeface="Arial"/>
                <a:cs typeface="Arial"/>
                <a:sym typeface="Arial"/>
              </a:rPr>
              <a:t>· </a:t>
            </a:r>
            <a:r>
              <a:rPr lang="en" sz="1200">
                <a:solidFill>
                  <a:srgbClr val="000000"/>
                </a:solidFill>
                <a:latin typeface="Arial"/>
                <a:ea typeface="Arial"/>
                <a:cs typeface="Arial"/>
                <a:sym typeface="Arial"/>
              </a:rPr>
              <a:t>User Testing:</a:t>
            </a:r>
            <a:r>
              <a:rPr b="0" lang="en" sz="1200">
                <a:solidFill>
                  <a:srgbClr val="000000"/>
                </a:solidFill>
                <a:latin typeface="Arial"/>
                <a:ea typeface="Arial"/>
                <a:cs typeface="Arial"/>
                <a:sym typeface="Arial"/>
              </a:rPr>
              <a:t> Gather feedback from users to improve the interface.</a:t>
            </a:r>
            <a:endParaRPr b="0" sz="1200">
              <a:solidFill>
                <a:srgbClr val="000000"/>
              </a:solidFill>
              <a:latin typeface="Arial"/>
              <a:ea typeface="Arial"/>
              <a:cs typeface="Arial"/>
              <a:sym typeface="Arial"/>
            </a:endParaRPr>
          </a:p>
          <a:p>
            <a:pPr indent="-228600" lvl="0" marL="457200" rtl="0" algn="l">
              <a:lnSpc>
                <a:spcPct val="150000"/>
              </a:lnSpc>
              <a:spcBef>
                <a:spcPts val="500"/>
              </a:spcBef>
              <a:spcAft>
                <a:spcPts val="0"/>
              </a:spcAft>
              <a:buClr>
                <a:schemeClr val="dk2"/>
              </a:buClr>
              <a:buSzPts val="1100"/>
              <a:buFont typeface="Arial"/>
              <a:buNone/>
            </a:pPr>
            <a:r>
              <a:rPr lang="en" sz="1000">
                <a:solidFill>
                  <a:srgbClr val="000000"/>
                </a:solidFill>
                <a:latin typeface="Arial"/>
                <a:ea typeface="Arial"/>
                <a:cs typeface="Arial"/>
                <a:sym typeface="Arial"/>
              </a:rPr>
              <a:t>· </a:t>
            </a:r>
            <a:r>
              <a:rPr lang="en" sz="1200">
                <a:solidFill>
                  <a:srgbClr val="000000"/>
                </a:solidFill>
                <a:latin typeface="Arial"/>
                <a:ea typeface="Arial"/>
                <a:cs typeface="Arial"/>
                <a:sym typeface="Arial"/>
              </a:rPr>
              <a:t>Security:</a:t>
            </a:r>
            <a:r>
              <a:rPr b="0" lang="en" sz="1200">
                <a:solidFill>
                  <a:srgbClr val="000000"/>
                </a:solidFill>
                <a:latin typeface="Arial"/>
                <a:ea typeface="Arial"/>
                <a:cs typeface="Arial"/>
                <a:sym typeface="Arial"/>
              </a:rPr>
              <a:t> Ensure compliance with data protection laws to safeguard user information.</a:t>
            </a:r>
            <a:endParaRPr b="0" sz="1200">
              <a:solidFill>
                <a:srgbClr val="000000"/>
              </a:solidFill>
              <a:latin typeface="Arial"/>
              <a:ea typeface="Arial"/>
              <a:cs typeface="Arial"/>
              <a:sym typeface="Arial"/>
            </a:endParaRPr>
          </a:p>
          <a:p>
            <a:pPr indent="0" lvl="0" marL="0" rtl="0" algn="l">
              <a:lnSpc>
                <a:spcPct val="150000"/>
              </a:lnSpc>
              <a:spcBef>
                <a:spcPts val="500"/>
              </a:spcBef>
              <a:spcAft>
                <a:spcPts val="0"/>
              </a:spcAft>
              <a:buNone/>
            </a:pPr>
            <a:r>
              <a:t/>
            </a:r>
            <a:endParaRPr b="0" sz="2100"/>
          </a:p>
          <a:p>
            <a:pPr indent="0" lvl="0" marL="0" rtl="0" algn="l">
              <a:lnSpc>
                <a:spcPct val="150000"/>
              </a:lnSpc>
              <a:spcBef>
                <a:spcPts val="1000"/>
              </a:spcBef>
              <a:spcAft>
                <a:spcPts val="0"/>
              </a:spcAft>
              <a:buNone/>
            </a:pPr>
            <a:r>
              <a:t/>
            </a:r>
            <a:endParaRPr sz="2100"/>
          </a:p>
          <a:p>
            <a:pPr indent="0" lvl="0" marL="0" rtl="0" algn="l">
              <a:lnSpc>
                <a:spcPct val="150000"/>
              </a:lnSpc>
              <a:spcBef>
                <a:spcPts val="1000"/>
              </a:spcBef>
              <a:spcAft>
                <a:spcPts val="1000"/>
              </a:spcAft>
              <a:buNone/>
            </a:pPr>
            <a:r>
              <a:t/>
            </a:r>
            <a:endParaRPr sz="2400" u="sng">
              <a:solidFill>
                <a:schemeClr val="accent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265500" y="211675"/>
            <a:ext cx="4045200" cy="110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800">
                <a:solidFill>
                  <a:schemeClr val="lt2"/>
                </a:solidFill>
              </a:rPr>
              <a:t> </a:t>
            </a:r>
            <a:endParaRPr sz="3800">
              <a:solidFill>
                <a:schemeClr val="lt2"/>
              </a:solidFill>
            </a:endParaRPr>
          </a:p>
          <a:p>
            <a:pPr indent="0" lvl="0" marL="0" rtl="0" algn="l">
              <a:spcBef>
                <a:spcPts val="0"/>
              </a:spcBef>
              <a:spcAft>
                <a:spcPts val="0"/>
              </a:spcAft>
              <a:buNone/>
            </a:pPr>
            <a:r>
              <a:rPr lang="en"/>
              <a:t>Conclusion:</a:t>
            </a:r>
            <a:endParaRPr sz="3400">
              <a:solidFill>
                <a:schemeClr val="lt2"/>
              </a:solidFill>
            </a:endParaRPr>
          </a:p>
        </p:txBody>
      </p:sp>
      <p:pic>
        <p:nvPicPr>
          <p:cNvPr id="137" name="Google Shape;137;p23"/>
          <p:cNvPicPr preferRelativeResize="0"/>
          <p:nvPr/>
        </p:nvPicPr>
        <p:blipFill>
          <a:blip r:embed="rId3">
            <a:alphaModFix amt="54000"/>
          </a:blip>
          <a:stretch>
            <a:fillRect/>
          </a:stretch>
        </p:blipFill>
        <p:spPr>
          <a:xfrm>
            <a:off x="6259750" y="476100"/>
            <a:ext cx="2480925" cy="2480925"/>
          </a:xfrm>
          <a:prstGeom prst="rect">
            <a:avLst/>
          </a:prstGeom>
          <a:noFill/>
          <a:ln>
            <a:noFill/>
          </a:ln>
        </p:spPr>
      </p:pic>
      <p:pic>
        <p:nvPicPr>
          <p:cNvPr id="138" name="Google Shape;138;p23"/>
          <p:cNvPicPr preferRelativeResize="0"/>
          <p:nvPr/>
        </p:nvPicPr>
        <p:blipFill>
          <a:blip r:embed="rId4">
            <a:alphaModFix amt="42000"/>
          </a:blip>
          <a:stretch>
            <a:fillRect/>
          </a:stretch>
        </p:blipFill>
        <p:spPr>
          <a:xfrm>
            <a:off x="4082525" y="1469750"/>
            <a:ext cx="3031200" cy="3031200"/>
          </a:xfrm>
          <a:prstGeom prst="rect">
            <a:avLst/>
          </a:prstGeom>
          <a:noFill/>
          <a:ln>
            <a:noFill/>
          </a:ln>
        </p:spPr>
      </p:pic>
      <p:sp>
        <p:nvSpPr>
          <p:cNvPr id="139" name="Google Shape;139;p23"/>
          <p:cNvSpPr txBox="1"/>
          <p:nvPr/>
        </p:nvSpPr>
        <p:spPr>
          <a:xfrm>
            <a:off x="463025" y="1666875"/>
            <a:ext cx="3505800" cy="2288700"/>
          </a:xfrm>
          <a:prstGeom prst="rect">
            <a:avLst/>
          </a:prstGeom>
          <a:noFill/>
          <a:ln>
            <a:noFill/>
          </a:ln>
        </p:spPr>
        <p:txBody>
          <a:bodyPr anchorCtr="0" anchor="t" bIns="91425" lIns="91425" spcFirstLastPara="1" rIns="91425" wrap="square" tIns="91425">
            <a:noAutofit/>
          </a:bodyPr>
          <a:lstStyle/>
          <a:p>
            <a:pPr indent="-228600" lvl="0" marL="457200" rtl="0" algn="l">
              <a:lnSpc>
                <a:spcPct val="150000"/>
              </a:lnSpc>
              <a:spcBef>
                <a:spcPts val="500"/>
              </a:spcBef>
              <a:spcAft>
                <a:spcPts val="0"/>
              </a:spcAft>
              <a:buClr>
                <a:schemeClr val="dk2"/>
              </a:buClr>
              <a:buSzPts val="1100"/>
              <a:buFont typeface="Arial"/>
              <a:buNone/>
            </a:pPr>
            <a:r>
              <a:rPr lang="en" sz="1000">
                <a:solidFill>
                  <a:schemeClr val="dk2"/>
                </a:solidFill>
              </a:rPr>
              <a:t>· </a:t>
            </a:r>
            <a:r>
              <a:rPr lang="en" sz="1200">
                <a:solidFill>
                  <a:schemeClr val="dk2"/>
                </a:solidFill>
              </a:rPr>
              <a:t>Vistelligent simplifies the visa application process by offering AI-driven insights, boosting the applicant's chances of approval.</a:t>
            </a:r>
            <a:endParaRPr sz="1200">
              <a:solidFill>
                <a:schemeClr val="dk2"/>
              </a:solidFill>
            </a:endParaRPr>
          </a:p>
          <a:p>
            <a:pPr indent="-228600" lvl="0" marL="457200" rtl="0" algn="l">
              <a:lnSpc>
                <a:spcPct val="150000"/>
              </a:lnSpc>
              <a:spcBef>
                <a:spcPts val="500"/>
              </a:spcBef>
              <a:spcAft>
                <a:spcPts val="0"/>
              </a:spcAft>
              <a:buClr>
                <a:schemeClr val="dk2"/>
              </a:buClr>
              <a:buSzPts val="1100"/>
              <a:buFont typeface="Arial"/>
              <a:buNone/>
            </a:pPr>
            <a:r>
              <a:rPr lang="en" sz="1000">
                <a:solidFill>
                  <a:schemeClr val="dk2"/>
                </a:solidFill>
              </a:rPr>
              <a:t>· </a:t>
            </a:r>
            <a:r>
              <a:rPr lang="en" sz="1200">
                <a:solidFill>
                  <a:schemeClr val="dk2"/>
                </a:solidFill>
              </a:rPr>
              <a:t>It creates a more transparent, tailored, and user-friendly experience for visa seekers.</a:t>
            </a:r>
            <a:endParaRPr sz="1200">
              <a:solidFill>
                <a:schemeClr val="dk2"/>
              </a:solidFill>
            </a:endParaRPr>
          </a:p>
          <a:p>
            <a:pPr indent="0" lvl="0" marL="0" rtl="0" algn="l">
              <a:lnSpc>
                <a:spcPct val="150000"/>
              </a:lnSpc>
              <a:spcBef>
                <a:spcPts val="500"/>
              </a:spcBef>
              <a:spcAft>
                <a:spcPts val="0"/>
              </a:spcAft>
              <a:buNone/>
            </a:pPr>
            <a:r>
              <a:t/>
            </a:r>
            <a:endParaRPr sz="1800">
              <a:solidFill>
                <a:schemeClr val="dk2"/>
              </a:solidFill>
              <a:latin typeface="Lato"/>
              <a:ea typeface="Lato"/>
              <a:cs typeface="Lato"/>
              <a:sym typeface="Lato"/>
            </a:endParaRPr>
          </a:p>
        </p:txBody>
      </p:sp>
      <p:sp>
        <p:nvSpPr>
          <p:cNvPr id="140" name="Google Shape;140;p23"/>
          <p:cNvSpPr txBox="1"/>
          <p:nvPr/>
        </p:nvSpPr>
        <p:spPr>
          <a:xfrm>
            <a:off x="780525" y="4114275"/>
            <a:ext cx="3439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Thank you!</a:t>
            </a:r>
            <a:endParaRPr sz="1800">
              <a:solidFill>
                <a:schemeClr val="dk2"/>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